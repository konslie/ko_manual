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658368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6556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성과관리  월별 업무리스트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6556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E0CC"/>
                </a:solidFill>
                <a:latin typeface="Arial"/>
              </a:rPr>
              <a:t>2026 · 매월 11일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1627632" cy="256032"/>
          </a:xfrm>
          <a:prstGeom prst="roundRect">
            <a:avLst>
              <a:gd name="adj" fmla="val 40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785C"/>
                </a:solidFill>
                <a:latin typeface="Arial"/>
              </a:rPr>
              <a:t>01  데이터 생성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41413"/>
                </a:solidFill>
                <a:latin typeface="Arial"/>
              </a:rPr>
              <a:t>에스원 (M21/M2M)</a:t>
            </a:r>
            <a:r>
              <a:rPr sz="1000" b="0">
                <a:solidFill>
                  <a:srgbClr val="3D3D3A"/>
                </a:solidFill>
                <a:latin typeface="Arial"/>
              </a:rPr>
              <a:t>  에스원 보정매출 확인 → 매출조정 수기테이블 기입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41413"/>
                </a:solidFill>
                <a:latin typeface="Arial"/>
              </a:rPr>
              <a:t>KGM (T35/커넥티드카)</a:t>
            </a:r>
            <a:r>
              <a:rPr sz="1000" b="0">
                <a:solidFill>
                  <a:srgbClr val="3D3D3A"/>
                </a:solidFill>
                <a:latin typeface="Arial"/>
              </a:rPr>
              <a:t>  KGM 보정매출 확인 → 매출조정 수기테이블 기입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37944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41413"/>
                </a:solidFill>
                <a:latin typeface="Arial"/>
              </a:rPr>
              <a:t>토요타 (T35/커넥티드카)</a:t>
            </a:r>
            <a:r>
              <a:rPr sz="1000" b="0">
                <a:solidFill>
                  <a:srgbClr val="3D3D3A"/>
                </a:solidFill>
                <a:latin typeface="Arial"/>
              </a:rPr>
              <a:t>  토요타 보정매출 확인 → 매출조정 수기테이블 기입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39696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41413"/>
                </a:solidFill>
                <a:latin typeface="Arial"/>
              </a:rPr>
              <a:t>한전 KEPCO</a:t>
            </a:r>
            <a:r>
              <a:rPr sz="1000" b="0">
                <a:solidFill>
                  <a:srgbClr val="3D3D3A"/>
                </a:solidFill>
                <a:latin typeface="Arial"/>
              </a:rPr>
              <a:t>  기획팀 PL 자료 수령 → 한전 PL 수익률 수기테이블 완성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24328"/>
            <a:ext cx="6556248" cy="9144"/>
          </a:xfrm>
          <a:prstGeom prst="rect">
            <a:avLst/>
          </a:prstGeom>
          <a:solidFill>
            <a:srgbClr val="C8B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770632"/>
            <a:ext cx="6556248" cy="274320"/>
          </a:xfrm>
          <a:prstGeom prst="roundRect">
            <a:avLst>
              <a:gd name="adj" fmla="val 6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807208"/>
            <a:ext cx="6446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⚡  매월 11일 05:00~  —  성과관리 데이터 배치 자동 생성  (담당자 액션 없음)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36976"/>
            <a:ext cx="6556248" cy="9144"/>
          </a:xfrm>
          <a:prstGeom prst="rect">
            <a:avLst/>
          </a:prstGeom>
          <a:solidFill>
            <a:srgbClr val="C8B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419856"/>
            <a:ext cx="2048256" cy="256032"/>
          </a:xfrm>
          <a:prstGeom prst="roundRect">
            <a:avLst>
              <a:gd name="adj" fmla="val 40000"/>
            </a:avLst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19856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D3D3A"/>
                </a:solidFill>
                <a:latin typeface="Arial"/>
              </a:rPr>
              <a:t>02A  수기테이블 미완성 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2616" y="3438144"/>
            <a:ext cx="438912" cy="219456"/>
          </a:xfrm>
          <a:prstGeom prst="roundRect">
            <a:avLst>
              <a:gd name="adj" fmla="val 40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42616" y="3438144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3989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39896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누락 항목 수기테이블 완성 후 데이터 재생성 요청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4164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41648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재생성 완료 확인 (최신월 마트 적재 시간 확인)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4340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  <a:latin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43400"/>
            <a:ext cx="6144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완료 후 → 02B 루틴 수행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28032"/>
            <a:ext cx="6556248" cy="9144"/>
          </a:xfrm>
          <a:prstGeom prst="rect">
            <a:avLst/>
          </a:prstGeom>
          <a:solidFill>
            <a:srgbClr val="C8B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010912"/>
            <a:ext cx="2048256" cy="256032"/>
          </a:xfrm>
          <a:prstGeom prst="roundRect">
            <a:avLst>
              <a:gd name="adj" fmla="val 40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1091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785C"/>
                </a:solidFill>
                <a:latin typeface="Arial"/>
              </a:rPr>
              <a:t>02B  데이터 생성 완료 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42616" y="5029200"/>
            <a:ext cx="621792" cy="219456"/>
          </a:xfrm>
          <a:prstGeom prst="roundRect">
            <a:avLst>
              <a:gd name="adj" fmla="val 40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42616" y="5029200"/>
            <a:ext cx="621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ELSE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330952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Arial"/>
              </a:rPr>
              <a:t>● 네이버클라우드 (코람코 IDC)  —  Billing 역산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60527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605272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UCube에서 네이버클라우드 청구계정 청구금액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90702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07024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최신월 성과관리 데이터 생성 완료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0877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208776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심의내역에서 네이버 IDC 코람코 관련 심의 찾아 반영매출을 1월~최신월 누적값으로 조정처리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65392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  <a:latin typeface="Arial"/>
              </a:rPr>
              <a:t>● 한전 KEPCO 전력통신  —  PL 이익률 강제 적용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83971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839712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기획팀에서 전달하는 PL 자료 수령 (6영업일 즈음)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714146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7141464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PL 수익률 수기테이블 완성 → 최신월 P10 전력통신 수익률 입력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744321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7443216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최신월 성과관리 데이터 생성 완료 확인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774496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7744968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심의내역에서 한전 P10 전력통신 심의 찾아 수익률을 PL 수익률로 조정처리 반영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8229600"/>
            <a:ext cx="6556248" cy="9144"/>
          </a:xfrm>
          <a:prstGeom prst="rect">
            <a:avLst/>
          </a:prstGeom>
          <a:solidFill>
            <a:srgbClr val="C8B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" y="8412480"/>
            <a:ext cx="3520440" cy="256032"/>
          </a:xfrm>
          <a:prstGeom prst="roundRect">
            <a:avLst>
              <a:gd name="adj" fmla="val 40000"/>
            </a:avLst>
          </a:prstGeom>
          <a:solidFill>
            <a:srgbClr val="D4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841248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A6A"/>
                </a:solidFill>
                <a:latin typeface="Arial"/>
              </a:rPr>
              <a:t>03  Eye-Checking  (KA 고객 특이사항)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873252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8732520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Claude로 KA 고객 특이사항 체크 양식 생성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903427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9034272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매출 급변동 — 전월 대비 ±30% 초과 여부 확인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933602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9336024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이익률 이상 — 극단값 존재 여부 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963777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9637776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GRR/NRR 이상 — 100% 초과 또는 극단 하락 여부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993952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9939528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수주잔고 갑작스러운 변동 여부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102412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10241280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심의내역 누락 — VRB 심의 등록 여부 확인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105430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10543032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네이버클라우드·한전 수익성 조정 반영 완료 확인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1084478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10844784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에스원·KGM·토요타 보정매출 반영 정상 여부 확인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11329416"/>
            <a:ext cx="6556248" cy="9144"/>
          </a:xfrm>
          <a:prstGeom prst="rect">
            <a:avLst/>
          </a:prstGeom>
          <a:solidFill>
            <a:srgbClr val="C8B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02920" y="11512296"/>
            <a:ext cx="1837944" cy="256032"/>
          </a:xfrm>
          <a:prstGeom prst="roundRect">
            <a:avLst>
              <a:gd name="adj" fmla="val 40000"/>
            </a:avLst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11512296"/>
            <a:ext cx="1837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A64"/>
                </a:solidFill>
                <a:latin typeface="Arial"/>
              </a:rPr>
              <a:t>04  비정기 (필요시만)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1183233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11832336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KA 고객 정의 업데이트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12088368"/>
            <a:ext cx="6327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C6A64"/>
                </a:solidFill>
                <a:latin typeface="Arial"/>
              </a:rPr>
              <a:t>Key Account 식별 기준 변경 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122986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12298680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GA 고객 정의 업데이트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12554712"/>
            <a:ext cx="6327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C6A64"/>
                </a:solidFill>
                <a:latin typeface="Arial"/>
              </a:rPr>
              <a:t>General Account 기준 변경 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1276502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12765024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고객 그룹핑 정의 변경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13021056"/>
            <a:ext cx="6327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C6A64"/>
                </a:solidFill>
                <a:latin typeface="Arial"/>
              </a:rPr>
              <a:t>복수 고객 단일 그룹 매핑 변경 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1323136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13231368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고객군 정의 변경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13487400"/>
            <a:ext cx="6327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C6A64"/>
                </a:solidFill>
                <a:latin typeface="Arial"/>
              </a:rPr>
              <a:t>산업군 세그먼트 분류 변경 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1369771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13697712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사업자번호 매핑 오류 수정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13953744"/>
            <a:ext cx="6327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C6A64"/>
                </a:solidFill>
                <a:latin typeface="Arial"/>
              </a:rPr>
              <a:t>중복 계정 정제 / 유일 고객 ID 재발급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1416405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785C"/>
                </a:solidFill>
                <a:latin typeface="Arial"/>
              </a:rPr>
              <a:t>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14164056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D3A"/>
                </a:solidFill>
                <a:latin typeface="Arial"/>
              </a:rPr>
              <a:t>신규 고객 마스터 등록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1520" y="14420088"/>
            <a:ext cx="6327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C6A64"/>
                </a:solidFill>
                <a:latin typeface="Arial"/>
              </a:rPr>
              <a:t>사업자번호 확인 후 마스터 추가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" y="10433304"/>
            <a:ext cx="6556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6A64"/>
                </a:solidFill>
                <a:latin typeface="Arial"/>
              </a:rPr>
              <a:t>성과관리 시스템 인수인계 2026  |  매월 11일 배치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