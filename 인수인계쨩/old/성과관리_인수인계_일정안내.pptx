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10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" y="1280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LG U+  성과관리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" y="42062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880"/>
                </a:solidFill>
                <a:latin typeface="Arial"/>
              </a:rPr>
              <a:t>인수인계 일정 안내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36576" cy="1188720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" y="841248"/>
            <a:ext cx="2203704" cy="1188720"/>
          </a:xfrm>
          <a:prstGeom prst="rect">
            <a:avLst/>
          </a:prstGeom>
          <a:solidFill>
            <a:srgbClr val="26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4592" y="1097280"/>
            <a:ext cx="402336" cy="402336"/>
          </a:xfrm>
          <a:prstGeom prst="ellipse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0972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024128"/>
            <a:ext cx="1472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데이터 생성 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371600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A0C4"/>
                </a:solidFill>
                <a:latin typeface="Arial"/>
              </a:rPr>
              <a:t>월초 ~ 11일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2022653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1168" y="2304288"/>
            <a:ext cx="329184" cy="329184"/>
          </a:xfrm>
          <a:prstGeom prst="ellipse">
            <a:avLst/>
          </a:prstGeom>
          <a:solidFill>
            <a:srgbClr val="3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" y="2304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8880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24942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6C0"/>
                </a:solidFill>
                <a:latin typeface="Arial"/>
              </a:rPr>
              <a:t>정기 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60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매월 11일 (자동)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3211373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1168" y="3493008"/>
            <a:ext cx="329184" cy="329184"/>
          </a:xfrm>
          <a:prstGeom prst="ellipse">
            <a:avLst/>
          </a:prstGeom>
          <a:solidFill>
            <a:srgbClr val="3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3493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8880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3814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6C0"/>
                </a:solidFill>
                <a:latin typeface="Arial"/>
              </a:rPr>
              <a:t>데이터 생성 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11일 이후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5897880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598932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C66"/>
                </a:solidFill>
                <a:latin typeface="Arial"/>
              </a:rPr>
              <a:t>비정기 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6227064"/>
            <a:ext cx="1984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필요 시 수행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0"/>
            <a:ext cx="9948672" cy="68580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40280" y="0"/>
            <a:ext cx="994867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0280" y="713232"/>
            <a:ext cx="9948672" cy="36576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91440"/>
            <a:ext cx="9491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B1B"/>
                </a:solidFill>
                <a:latin typeface="Arial"/>
              </a:rPr>
              <a:t>데이터 생성 전 — 수기테이블 생성 및 실적 조정 데이터 준비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93776"/>
            <a:ext cx="9491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A54"/>
                </a:solidFill>
                <a:latin typeface="Arial"/>
              </a:rPr>
              <a:t>월초 ~ 매월 11일 | 마스터·분류 정보 확정 + 조정 대상 실적 확인 + PL 이익률 수기테이블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41448" y="950976"/>
            <a:ext cx="9857232" cy="310896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41448" y="1252728"/>
            <a:ext cx="9857232" cy="9144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014984"/>
            <a:ext cx="1472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5A54"/>
                </a:solidFill>
                <a:latin typeface="Arial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42232" y="1014984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5A54"/>
                </a:solidFill>
                <a:latin typeface="Arial"/>
              </a:rPr>
              <a:t>작업 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1014984"/>
            <a:ext cx="3685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5A54"/>
                </a:solidFill>
                <a:latin typeface="Arial"/>
              </a:rPr>
              <a:t>세부 내용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20272" y="1014984"/>
            <a:ext cx="1033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5A54"/>
                </a:solidFill>
                <a:latin typeface="Arial"/>
              </a:rPr>
              <a:t>소요시간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1448" y="1261872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41448" y="1912925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14600" y="1389888"/>
            <a:ext cx="1435608" cy="402336"/>
          </a:xfrm>
          <a:prstGeom prst="roundRect">
            <a:avLst>
              <a:gd name="adj" fmla="val 12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1389888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KA/GA
고객 리스트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1371600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①  </a:t>
            </a:r>
            <a:r>
              <a:rPr sz="1000" b="1">
                <a:solidFill>
                  <a:srgbClr val="1C1B1B"/>
                </a:solidFill>
                <a:latin typeface="Arial"/>
              </a:rPr>
              <a:t>KA/GA 고객 리스트 확정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133502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현행 KA·GA 고객 목록 검토 및 변경사항 반영
KAM TF 협의 기반 최종 확정 (KAM TF 협의 및 검증 작업 필요)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1444752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0.5 MD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41448" y="1920240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41448" y="2571293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2029968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②  </a:t>
            </a:r>
            <a:r>
              <a:rPr sz="1000" b="1">
                <a:solidFill>
                  <a:srgbClr val="1C1B1B"/>
                </a:solidFill>
                <a:latin typeface="Arial"/>
              </a:rPr>
              <a:t>고객 그룹핑 정보 확정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199339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복수 법인을 단일 그룹으로 묶는 매핑 정보 검토·갱신
KAM TF 협의 기반 최종 확정 (KAM TF 협의 및 검증 작업 필요)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2103120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0.5 MD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41448" y="2578608"/>
            <a:ext cx="9857232" cy="65836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41448" y="3229661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514600" y="2706624"/>
            <a:ext cx="1435608" cy="402336"/>
          </a:xfrm>
          <a:prstGeom prst="roundRect">
            <a:avLst>
              <a:gd name="adj" fmla="val 12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14600" y="2706624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고객군
(Lv1~4)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2688336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③  </a:t>
            </a:r>
            <a:r>
              <a:rPr sz="1000" b="1">
                <a:solidFill>
                  <a:srgbClr val="1C1B1B"/>
                </a:solidFill>
                <a:latin typeface="Arial"/>
              </a:rPr>
              <a:t>고객군 분류 변경사항 점검 및 반영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0" y="265176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각 고객별 고객군 분류 변경사항 확인 및 반영
기존 데이터 중 변경 요청사항 반영, 공정위 대상 대기업집단 업데이트 등
KAM TF 협의 및 검증 작업 필요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2761488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1 MD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41448" y="3236976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41448" y="3888029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14600" y="3364992"/>
            <a:ext cx="1435608" cy="402336"/>
          </a:xfrm>
          <a:prstGeom prst="roundRect">
            <a:avLst>
              <a:gd name="adj" fmla="val 12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14600" y="3364992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매출/이익
조정 점검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0520" y="3346704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④  </a:t>
            </a:r>
            <a:r>
              <a:rPr sz="1000" b="1">
                <a:solidFill>
                  <a:srgbClr val="1C1B1B"/>
                </a:solidFill>
                <a:latin typeface="Arial"/>
              </a:rPr>
              <a:t>DW 데이터 생성 · 적재 스케줄 점검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0" y="331012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기업DW 데이터 생성 완료 여부 확인
데이터레이크(DL) 적재 스케줄 이상 없음 점검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92840" y="3419856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0.1 MD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41448" y="3895344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441448" y="4546397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60520" y="4005072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⑤  </a:t>
            </a:r>
            <a:r>
              <a:rPr sz="1000" b="1">
                <a:solidFill>
                  <a:srgbClr val="1C1B1B"/>
                </a:solidFill>
                <a:latin typeface="Arial"/>
              </a:rPr>
              <a:t>주요 조정 대상 실적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0" y="3968496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네이버 청구매출, 에스원·KGM·토요타 청구매출, MVNO 정산매출 확인 등
조정 대상 고객 실적 추출·확인 (기업DW, 파트너플러스 시스템 내 실적 확인 필요)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92840" y="4078224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0.5 MD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41448" y="4553712"/>
            <a:ext cx="9857232" cy="65836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441448" y="5204765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514600" y="4681728"/>
            <a:ext cx="1435608" cy="402336"/>
          </a:xfrm>
          <a:prstGeom prst="roundRect">
            <a:avLst>
              <a:gd name="adj" fmla="val 12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14600" y="4681728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PL 이익률
수기테이블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0520" y="4663440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⑥  </a:t>
            </a:r>
            <a:r>
              <a:rPr sz="1000" b="1">
                <a:solidFill>
                  <a:srgbClr val="1C1B1B"/>
                </a:solidFill>
                <a:latin typeface="Arial"/>
              </a:rPr>
              <a:t>부문 PL 이익률 마감 스케줄 확인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0" y="462686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기획팀 PL 자료 제공 일정 확인 (통상 6영업일 전후)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92840" y="4736592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0.1 MD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41448" y="5212080"/>
            <a:ext cx="9857232" cy="65836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41448" y="5863133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60520" y="5321808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⑦  </a:t>
            </a:r>
            <a:r>
              <a:rPr sz="1000" b="1">
                <a:solidFill>
                  <a:srgbClr val="1C1B1B"/>
                </a:solidFill>
                <a:latin typeface="Arial"/>
              </a:rPr>
              <a:t>7개 수기테이블 생성/검증 후 운영 업로드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80" y="528523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월별 업데이트 필요한 7개 수기테이블 생성/검증 후 레이크 업로드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92840" y="5394960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2 MD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41448" y="5870448"/>
            <a:ext cx="9857232" cy="384048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78608" y="59618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소요시간 합계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5943600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0064"/>
                </a:solidFill>
                <a:latin typeface="Arial"/>
              </a:rPr>
              <a:t>4.7 MD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41448" y="6345936"/>
            <a:ext cx="9674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880"/>
                </a:solidFill>
                <a:latin typeface="Arial"/>
              </a:rPr>
              <a:t>※ KAM TF 협의 일정에 따라 확정 시점 유동   ※ PL 이익률 수기테이블 소요시간은 수행 후 기입 예정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10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" y="1280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LG U+  성과관리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" y="42062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880"/>
                </a:solidFill>
                <a:latin typeface="Arial"/>
              </a:rPr>
              <a:t>인수인계 일정 안내</a:t>
            </a:r>
          </a:p>
        </p:txBody>
      </p:sp>
      <p:sp>
        <p:nvSpPr>
          <p:cNvPr id="7" name="Oval 6"/>
          <p:cNvSpPr/>
          <p:nvPr/>
        </p:nvSpPr>
        <p:spPr>
          <a:xfrm>
            <a:off x="201168" y="1115568"/>
            <a:ext cx="329184" cy="329184"/>
          </a:xfrm>
          <a:prstGeom prst="ellipse">
            <a:avLst/>
          </a:prstGeom>
          <a:solidFill>
            <a:srgbClr val="3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1155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888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6070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6C0"/>
                </a:solidFill>
                <a:latin typeface="Arial"/>
              </a:rPr>
              <a:t>데이터 생성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월초 ~ 11일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2022653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029968"/>
            <a:ext cx="36576" cy="1188720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" y="2029968"/>
            <a:ext cx="2203704" cy="1188720"/>
          </a:xfrm>
          <a:prstGeom prst="rect">
            <a:avLst/>
          </a:prstGeom>
          <a:solidFill>
            <a:srgbClr val="26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4592" y="2286000"/>
            <a:ext cx="402336" cy="402336"/>
          </a:xfrm>
          <a:prstGeom prst="ellipse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" y="22860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212848"/>
            <a:ext cx="1472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정기 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560320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A0C4"/>
                </a:solidFill>
                <a:latin typeface="Arial"/>
              </a:rPr>
              <a:t>매월 11일 (자동)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3211373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1168" y="3493008"/>
            <a:ext cx="329184" cy="329184"/>
          </a:xfrm>
          <a:prstGeom prst="ellipse">
            <a:avLst/>
          </a:prstGeom>
          <a:solidFill>
            <a:srgbClr val="3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3493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8880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3814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6C0"/>
                </a:solidFill>
                <a:latin typeface="Arial"/>
              </a:rPr>
              <a:t>데이터 생성 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11일 이후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5897880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598932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C66"/>
                </a:solidFill>
                <a:latin typeface="Arial"/>
              </a:rPr>
              <a:t>비정기 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6227064"/>
            <a:ext cx="1984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필요 시 수행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0"/>
            <a:ext cx="9948672" cy="68580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40280" y="0"/>
            <a:ext cx="994867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0280" y="713232"/>
            <a:ext cx="9948672" cy="36576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91440"/>
            <a:ext cx="9491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B1B"/>
                </a:solidFill>
                <a:latin typeface="Arial"/>
              </a:rPr>
              <a:t>정기 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93776"/>
            <a:ext cx="9491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A54"/>
                </a:solidFill>
                <a:latin typeface="Arial"/>
              </a:rPr>
              <a:t>매월 11일 자동 배치 | 수기데이터 완성 여부에 따라 이후 작업 흐름 분기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41448" y="950976"/>
            <a:ext cx="954633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9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41448" y="950976"/>
            <a:ext cx="36576" cy="914400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87752" y="1042416"/>
            <a:ext cx="9345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B1B"/>
                </a:solidFill>
                <a:latin typeface="Arial"/>
              </a:rPr>
              <a:t>정기 배치 개요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7752" y="1335024"/>
            <a:ext cx="9345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A54"/>
                </a:solidFill>
                <a:latin typeface="Arial"/>
              </a:rPr>
              <a:t>정기 배치는 매월 11일 자동 배치되나, 정기 배치 이전에 작업되어야 하는 수기데이터 작업 미완성 시 정기 배치 이후 수기데이터 생성 → 반영 → 재배치 작업이 필요함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7336" y="2029968"/>
            <a:ext cx="2194560" cy="658368"/>
          </a:xfrm>
          <a:prstGeom prst="roundRect">
            <a:avLst>
              <a:gd name="adj" fmla="val 8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17336" y="202996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매월 11일  정기 배치 실행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2" y="2779776"/>
            <a:ext cx="18288" cy="256032"/>
          </a:xfrm>
          <a:prstGeom prst="rect">
            <a:avLst/>
          </a:prstGeom>
          <a:solidFill>
            <a:srgbClr val="5C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751576" y="3035808"/>
            <a:ext cx="2926080" cy="47548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D4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51576" y="303580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B1B"/>
                </a:solidFill>
                <a:latin typeface="Arial"/>
              </a:rPr>
              <a:t>배치 전 수기데이터 작업 완료 여부?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80" y="3602736"/>
            <a:ext cx="6291072" cy="18288"/>
          </a:xfrm>
          <a:prstGeom prst="rect">
            <a:avLst/>
          </a:prstGeom>
          <a:solidFill>
            <a:srgbClr val="5C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59936" y="3602736"/>
            <a:ext cx="18288" cy="256032"/>
          </a:xfrm>
          <a:prstGeom prst="rect">
            <a:avLst/>
          </a:prstGeom>
          <a:solidFill>
            <a:srgbClr val="5C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51008" y="3602736"/>
            <a:ext cx="18288" cy="256032"/>
          </a:xfrm>
          <a:prstGeom prst="rect">
            <a:avLst/>
          </a:prstGeom>
          <a:solidFill>
            <a:srgbClr val="5C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34015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97706"/>
                </a:solidFill>
                <a:latin typeface="Arial"/>
              </a:rPr>
              <a:t>미완성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85832" y="34015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9488"/>
                </a:solidFill>
                <a:latin typeface="Arial"/>
              </a:rPr>
              <a:t>완료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40280" y="3858768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DF6EE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40280" y="3858768"/>
            <a:ext cx="36576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86584" y="3950208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Arial"/>
              </a:rPr>
              <a:t>수기데이터 미완성 시</a:t>
            </a:r>
          </a:p>
        </p:txBody>
      </p:sp>
      <p:sp>
        <p:nvSpPr>
          <p:cNvPr id="48" name="Oval 47"/>
          <p:cNvSpPr/>
          <p:nvPr/>
        </p:nvSpPr>
        <p:spPr>
          <a:xfrm>
            <a:off x="2386584" y="4288536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86584" y="42885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60904" y="4242816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B1B"/>
                </a:solidFill>
                <a:latin typeface="Arial"/>
              </a:rPr>
              <a:t>수기데이터 생성 완료</a:t>
            </a:r>
          </a:p>
        </p:txBody>
      </p:sp>
      <p:sp>
        <p:nvSpPr>
          <p:cNvPr id="51" name="Oval 50"/>
          <p:cNvSpPr/>
          <p:nvPr/>
        </p:nvSpPr>
        <p:spPr>
          <a:xfrm>
            <a:off x="2386584" y="459943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86584" y="459943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0904" y="4553712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B1B"/>
                </a:solidFill>
                <a:latin typeface="Arial"/>
              </a:rPr>
              <a:t>시스템 반영</a:t>
            </a:r>
          </a:p>
        </p:txBody>
      </p:sp>
      <p:sp>
        <p:nvSpPr>
          <p:cNvPr id="54" name="Oval 53"/>
          <p:cNvSpPr/>
          <p:nvPr/>
        </p:nvSpPr>
        <p:spPr>
          <a:xfrm>
            <a:off x="2386584" y="4910328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86584" y="49103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60904" y="4864608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B1B"/>
                </a:solidFill>
                <a:latin typeface="Arial"/>
              </a:rPr>
              <a:t>재배치 실행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59936" y="5330952"/>
            <a:ext cx="18288" cy="256032"/>
          </a:xfrm>
          <a:prstGeom prst="rect">
            <a:avLst/>
          </a:prstGeom>
          <a:solidFill>
            <a:srgbClr val="5C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0280" y="5367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5A54"/>
                </a:solidFill>
                <a:latin typeface="Arial"/>
              </a:rPr>
              <a:t>재배치 완료 후 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31352" y="3858768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EDF6F4"/>
          </a:solidFill>
          <a:ln w="12700">
            <a:solidFill>
              <a:srgbClr val="A8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31352" y="3858768"/>
            <a:ext cx="36576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77656" y="3950208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rial"/>
              </a:rPr>
              <a:t>정상 배치 완료 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77656" y="424281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B1B"/>
                </a:solidFill>
                <a:latin typeface="Arial"/>
              </a:rPr>
              <a:t>데이터 생성 이후 작업으로 바로 이동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51008" y="5330952"/>
            <a:ext cx="18288" cy="256032"/>
          </a:xfrm>
          <a:prstGeom prst="rect">
            <a:avLst/>
          </a:prstGeom>
          <a:solidFill>
            <a:srgbClr val="5C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31352" y="5367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5A54"/>
                </a:solidFill>
                <a:latin typeface="Arial"/>
              </a:rPr>
              <a:t>→  데이터 생성 후 작업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10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" y="1280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LG U+  성과관리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" y="42062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880"/>
                </a:solidFill>
                <a:latin typeface="Arial"/>
              </a:rPr>
              <a:t>인수인계 일정 안내</a:t>
            </a:r>
          </a:p>
        </p:txBody>
      </p:sp>
      <p:sp>
        <p:nvSpPr>
          <p:cNvPr id="7" name="Oval 6"/>
          <p:cNvSpPr/>
          <p:nvPr/>
        </p:nvSpPr>
        <p:spPr>
          <a:xfrm>
            <a:off x="201168" y="1115568"/>
            <a:ext cx="329184" cy="329184"/>
          </a:xfrm>
          <a:prstGeom prst="ellipse">
            <a:avLst/>
          </a:prstGeom>
          <a:solidFill>
            <a:srgbClr val="3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1155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888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6070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6C0"/>
                </a:solidFill>
                <a:latin typeface="Arial"/>
              </a:rPr>
              <a:t>데이터 생성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월초 ~ 11일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2022653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1168" y="2304288"/>
            <a:ext cx="329184" cy="329184"/>
          </a:xfrm>
          <a:prstGeom prst="ellipse">
            <a:avLst/>
          </a:prstGeom>
          <a:solidFill>
            <a:srgbClr val="3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2304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8880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6C0"/>
                </a:solidFill>
                <a:latin typeface="Arial"/>
              </a:rPr>
              <a:t>정기 배치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매월 11일 (자동)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3211373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218688"/>
            <a:ext cx="36576" cy="1188720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" y="3218688"/>
            <a:ext cx="2203704" cy="1188720"/>
          </a:xfrm>
          <a:prstGeom prst="rect">
            <a:avLst/>
          </a:prstGeom>
          <a:solidFill>
            <a:srgbClr val="26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4592" y="3474720"/>
            <a:ext cx="402336" cy="402336"/>
          </a:xfrm>
          <a:prstGeom prst="ellipse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" y="34747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401568"/>
            <a:ext cx="1472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데이터 생성 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749040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A0C4"/>
                </a:solidFill>
                <a:latin typeface="Arial"/>
              </a:rPr>
              <a:t>11일 이후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5897880"/>
            <a:ext cx="2057400" cy="7315"/>
          </a:xfrm>
          <a:prstGeom prst="rect">
            <a:avLst/>
          </a:prstGeom>
          <a:solidFill>
            <a:srgbClr val="2C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598932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C66"/>
                </a:solidFill>
                <a:latin typeface="Arial"/>
              </a:rPr>
              <a:t>비정기 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6227064"/>
            <a:ext cx="1984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C66"/>
                </a:solidFill>
                <a:latin typeface="Arial"/>
              </a:rPr>
              <a:t>필요 시 수행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0"/>
            <a:ext cx="9948672" cy="68580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40280" y="0"/>
            <a:ext cx="994867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0280" y="713232"/>
            <a:ext cx="9948672" cy="36576"/>
          </a:xfrm>
          <a:prstGeom prst="rect">
            <a:avLst/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91440"/>
            <a:ext cx="9491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B1B"/>
                </a:solidFill>
                <a:latin typeface="Arial"/>
              </a:rPr>
              <a:t>데이터 생성 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93776"/>
            <a:ext cx="9491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A54"/>
                </a:solidFill>
                <a:latin typeface="Arial"/>
              </a:rPr>
              <a:t>매월 11일 이후 | KA 고객 성과지표 추출 → 점검 → 조정 → 리뷰 → 최종 확인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41448" y="950976"/>
            <a:ext cx="9857232" cy="310896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41448" y="1252728"/>
            <a:ext cx="9857232" cy="9144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014984"/>
            <a:ext cx="1472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5A54"/>
                </a:solidFill>
                <a:latin typeface="Arial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42232" y="1014984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5A54"/>
                </a:solidFill>
                <a:latin typeface="Arial"/>
              </a:rPr>
              <a:t>작업 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1014984"/>
            <a:ext cx="3685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5A54"/>
                </a:solidFill>
                <a:latin typeface="Arial"/>
              </a:rPr>
              <a:t>세부 내용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20272" y="1014984"/>
            <a:ext cx="1033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5A54"/>
                </a:solidFill>
                <a:latin typeface="Arial"/>
              </a:rPr>
              <a:t>소요시간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1448" y="1261872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41448" y="1912925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14600" y="1389888"/>
            <a:ext cx="1435608" cy="402336"/>
          </a:xfrm>
          <a:prstGeom prst="roundRect">
            <a:avLst>
              <a:gd name="adj" fmla="val 12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1389888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성과지표
추출·점검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1371600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①  </a:t>
            </a:r>
            <a:r>
              <a:rPr sz="1000" b="1">
                <a:solidFill>
                  <a:srgbClr val="1C1B1B"/>
                </a:solidFill>
                <a:latin typeface="Arial"/>
              </a:rPr>
              <a:t>KA 고객 성과지표 추출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133502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KA 고객 중심으로 매출/이익률 성과지표 추출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1444752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0.2 MD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41448" y="1920240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41448" y="2571293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2029968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②  </a:t>
            </a:r>
            <a:r>
              <a:rPr sz="1000" b="1">
                <a:solidFill>
                  <a:srgbClr val="1C1B1B"/>
                </a:solidFill>
                <a:latin typeface="Arial"/>
              </a:rPr>
              <a:t>성과지표 이상여부 체크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199339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고객의 손익별 매출/이익 산출 결과 점검 후
초기 이상여부·예외처리 필요사항 도출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2103120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1 MD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41448" y="2578608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41448" y="3229661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0520" y="2688336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③  </a:t>
            </a:r>
            <a:r>
              <a:rPr sz="1000" b="1">
                <a:solidFill>
                  <a:srgbClr val="1C1B1B"/>
                </a:solidFill>
                <a:latin typeface="Arial"/>
              </a:rPr>
              <a:t>조정 작업 수행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265176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초기 이상여부·예외처리 조정 작업 수행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92840" y="2761488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0.5 MD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41448" y="3236976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41448" y="3888029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3346704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④  </a:t>
            </a:r>
            <a:r>
              <a:rPr sz="1000" b="1">
                <a:solidFill>
                  <a:srgbClr val="1C1B1B"/>
                </a:solidFill>
                <a:latin typeface="Arial"/>
              </a:rPr>
              <a:t>성과지표 재추출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331012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조정 작업 반영 후 성과지표 재추출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3419856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0.2 MD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41448" y="3895344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41448" y="4546397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0520" y="4005072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⑤  </a:t>
            </a:r>
            <a:r>
              <a:rPr sz="1000" b="1">
                <a:solidFill>
                  <a:srgbClr val="1C1B1B"/>
                </a:solidFill>
                <a:latin typeface="Arial"/>
              </a:rPr>
              <a:t>KA 고객 성과지표 공유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0" y="3968496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KAM TF, 담당 내 등 공유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840" y="4078224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0.1 MD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41448" y="4553712"/>
            <a:ext cx="9857232" cy="65836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441448" y="5204765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514600" y="4681728"/>
            <a:ext cx="1435608" cy="402336"/>
          </a:xfrm>
          <a:prstGeom prst="roundRect">
            <a:avLst>
              <a:gd name="adj" fmla="val 12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14600" y="4681728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리뷰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4663440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⑥  </a:t>
            </a:r>
            <a:r>
              <a:rPr sz="1000" b="1">
                <a:solidFill>
                  <a:srgbClr val="1C1B1B"/>
                </a:solidFill>
                <a:latin typeface="Arial"/>
              </a:rPr>
              <a:t>KAM TF 성과지표 리뷰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462686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KAM TF와 KA 성과지표 리뷰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92840" y="4736592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1 MD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41448" y="5212080"/>
            <a:ext cx="9857232" cy="65836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441448" y="5863133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60520" y="5321808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0064"/>
                </a:solidFill>
                <a:latin typeface="Arial"/>
              </a:rPr>
              <a:t>⑦  </a:t>
            </a:r>
            <a:r>
              <a:rPr sz="1000" b="1">
                <a:solidFill>
                  <a:srgbClr val="1C1B1B"/>
                </a:solidFill>
                <a:latin typeface="Arial"/>
              </a:rPr>
              <a:t>기획담당 성과지표 리뷰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80" y="528523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기획담당 KA 성과지표 리뷰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92840" y="5394960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1 MD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41448" y="5870448"/>
            <a:ext cx="9857232" cy="65836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41448" y="6521501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0520" y="5980176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B1B"/>
                </a:solidFill>
                <a:latin typeface="Arial"/>
              </a:rPr>
              <a:t>⑧ 조정 사항 반영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0" y="594360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리뷰 결과에 따른 조정 사항 반영 작업 수행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92840" y="6053328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0.5 MD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41448" y="6528816"/>
            <a:ext cx="9857232" cy="65836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441448" y="7179869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60520" y="6638544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B1B"/>
                </a:solidFill>
                <a:latin typeface="Arial"/>
              </a:rPr>
              <a:t>⑨ 최종 조정결과 확인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98080" y="660196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리뷰 반영 후 최종 산출 결과 확인 및 이상 없음 검증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92840" y="6711696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0.1 MD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41448" y="7187184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441448" y="7838237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514600" y="7315200"/>
            <a:ext cx="1435608" cy="402336"/>
          </a:xfrm>
          <a:prstGeom prst="roundRect">
            <a:avLst>
              <a:gd name="adj" fmla="val 12000"/>
            </a:avLst>
          </a:prstGeom>
          <a:solidFill>
            <a:srgbClr val="B9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14600" y="7315200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병렬 수행
(⑨ 이후)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60520" y="7296912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B1B"/>
                </a:solidFill>
                <a:latin typeface="Arial"/>
              </a:rPr>
              <a:t>⑩ 경영성과리뷰 양식 작성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8080" y="7260336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Claude 활용 양식 초안 생성 → 검토 및 확정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7370064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1 MD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41448" y="7845552"/>
            <a:ext cx="98572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441448" y="8496605"/>
            <a:ext cx="9857232" cy="7315"/>
          </a:xfrm>
          <a:prstGeom prst="rect">
            <a:avLst/>
          </a:prstGeom>
          <a:solidFill>
            <a:srgbClr val="E9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60520" y="7955280"/>
            <a:ext cx="3154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B1B"/>
                </a:solidFill>
                <a:latin typeface="Arial"/>
              </a:rPr>
              <a:t>⑪ 전체 데이터 및 KA 기타지표 정상 적재 확인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8080" y="791870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A54"/>
                </a:solidFill>
                <a:latin typeface="Arial"/>
              </a:rPr>
              <a:t>전체 고객 데이터 적재 완료 여부 및 KA 기타지표 정합성 확인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92840" y="8028432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0064"/>
                </a:solidFill>
                <a:latin typeface="Arial"/>
              </a:rPr>
              <a:t>1 MD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41448" y="8503920"/>
            <a:ext cx="9857232" cy="384048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78608" y="8595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소요시간 합계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92840" y="8577072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0064"/>
                </a:solidFill>
                <a:latin typeface="Arial"/>
              </a:rPr>
              <a:t>6.6 MD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41448" y="8979408"/>
            <a:ext cx="9674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880"/>
                </a:solidFill>
                <a:latin typeface="Arial"/>
              </a:rPr>
              <a:t>※ ⑩⑪은 ⑨ 최종 조정결과 확인 이후 동시(병렬) 수행 — 합산 소요시간에서 중복 산정됨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