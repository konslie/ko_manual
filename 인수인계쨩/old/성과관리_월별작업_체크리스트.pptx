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1097280"/>
            <a:ext cx="4114800" cy="4114800"/>
          </a:xfrm>
          <a:prstGeom prst="ellipse">
            <a:avLst/>
          </a:prstGeom>
          <a:solidFill>
            <a:srgbClr val="D4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754880"/>
            <a:ext cx="2743200" cy="2743200"/>
          </a:xfrm>
          <a:prstGeom prst="ellipse">
            <a:avLst/>
          </a:prstGeom>
          <a:solidFill>
            <a:srgbClr val="D4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CAA"/>
                </a:solidFill>
                <a:latin typeface="Arial"/>
              </a:rPr>
              <a:t>PERFORMANCE MANAGEMENT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성과관리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월별 작업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E8D8"/>
                </a:solidFill>
                <a:latin typeface="Arial"/>
              </a:rPr>
              <a:t>데이터 생성 전  →  11일 배치  →  생성 후  →  순서대로 따라하기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1737360" cy="1005840"/>
          </a:xfrm>
          <a:prstGeom prst="roundRect">
            <a:avLst>
              <a:gd name="adj" fmla="val 10000"/>
            </a:avLst>
          </a:prstGeom>
          <a:solidFill>
            <a:srgbClr val="D4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3개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CC"/>
                </a:solidFill>
                <a:latin typeface="Arial"/>
              </a:rPr>
              <a:t>매월 고정 작업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4114800"/>
            <a:ext cx="1737360" cy="1005840"/>
          </a:xfrm>
          <a:prstGeom prst="roundRect">
            <a:avLst>
              <a:gd name="adj" fmla="val 10000"/>
            </a:avLst>
          </a:prstGeom>
          <a:solidFill>
            <a:srgbClr val="D4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4160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2개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CC"/>
                </a:solidFill>
                <a:latin typeface="Arial"/>
              </a:rPr>
              <a:t>조건부 작업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114800"/>
            <a:ext cx="1737360" cy="1005840"/>
          </a:xfrm>
          <a:prstGeom prst="roundRect">
            <a:avLst>
              <a:gd name="adj" fmla="val 10000"/>
            </a:avLst>
          </a:prstGeom>
          <a:solidFill>
            <a:srgbClr val="D4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4160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4개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CC"/>
                </a:solidFill>
                <a:latin typeface="Arial"/>
              </a:rPr>
              <a:t>비정기 작업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114800"/>
            <a:ext cx="1737360" cy="1005840"/>
          </a:xfrm>
          <a:prstGeom prst="roundRect">
            <a:avLst>
              <a:gd name="adj" fmla="val 10000"/>
            </a:avLst>
          </a:prstGeom>
          <a:solidFill>
            <a:srgbClr val="D4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160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매월 11일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CC"/>
                </a:solidFill>
                <a:latin typeface="Arial"/>
              </a:rPr>
              <a:t>배치 기준일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CAA"/>
                </a:solidFill>
                <a:latin typeface="Arial"/>
              </a:rPr>
              <a:t>← → 키 또는 슬라이드 이동으로 체크리스트 확인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78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CAA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월별 작업 타임라인 —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D8"/>
                </a:solidFill>
                <a:latin typeface="Arial"/>
              </a:rPr>
              <a:t>데이터 생성 전 → 배치 → 생성 후 흐름 한눈에 보기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234440"/>
            <a:ext cx="475488" cy="475488"/>
          </a:xfrm>
          <a:prstGeom prst="ellipse">
            <a:avLst/>
          </a:prstGeom>
          <a:solidFill>
            <a:srgbClr val="F5F0E8"/>
          </a:solidFill>
          <a:ln w="1905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41413"/>
                </a:solidFill>
                <a:latin typeface="Arial"/>
              </a:rPr>
              <a:t>📋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09928"/>
            <a:ext cx="18288" cy="164592"/>
          </a:xfrm>
          <a:prstGeom prst="rect">
            <a:avLst/>
          </a:prstGeom>
          <a:solidFill>
            <a:srgbClr val="C8BFB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27101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3"/>
                </a:solidFill>
                <a:latin typeface="Arial"/>
              </a:rPr>
              <a:t>데이터 생성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5453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  <a:latin typeface="Arial"/>
              </a:rPr>
              <a:t>에스원·KGM·토요타 보정매출 기입 + 한전 PL 수익률 완성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0" y="1344168"/>
            <a:ext cx="777240" cy="256032"/>
          </a:xfrm>
          <a:prstGeom prst="roundRect">
            <a:avLst>
              <a:gd name="adj" fmla="val 30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134416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E9DE"/>
                </a:solidFill>
                <a:latin typeface="Arial"/>
              </a:rPr>
              <a:t>매월 필수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203704"/>
            <a:ext cx="475488" cy="475488"/>
          </a:xfrm>
          <a:prstGeom prst="ellipse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0370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41413"/>
                </a:solidFill>
                <a:latin typeface="Arial"/>
              </a:rPr>
              <a:t>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679192"/>
            <a:ext cx="18288" cy="164592"/>
          </a:xfrm>
          <a:prstGeom prst="rect">
            <a:avLst/>
          </a:prstGeom>
          <a:solidFill>
            <a:srgbClr val="C8BFB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22402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3"/>
                </a:solidFill>
                <a:latin typeface="Arial"/>
              </a:rPr>
              <a:t>매월 11일 05:00~ — 배치 자동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2514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  <a:latin typeface="Arial"/>
              </a:rPr>
              <a:t>담당자 액션 없음, 스케줄러 자동 처리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172968"/>
            <a:ext cx="475488" cy="475488"/>
          </a:xfrm>
          <a:prstGeom prst="ellipse">
            <a:avLst/>
          </a:prstGeom>
          <a:solidFill>
            <a:srgbClr val="EFE9DE"/>
          </a:solidFill>
          <a:ln w="19050">
            <a:solidFill>
              <a:srgbClr val="CC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729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41413"/>
                </a:solidFill>
                <a:latin typeface="Arial"/>
              </a:rPr>
              <a:t>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648456"/>
            <a:ext cx="18288" cy="164592"/>
          </a:xfrm>
          <a:prstGeom prst="rect">
            <a:avLst/>
          </a:prstGeom>
          <a:solidFill>
            <a:srgbClr val="C8BFB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320954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3"/>
                </a:solidFill>
                <a:latin typeface="Arial"/>
              </a:rPr>
              <a:t>수기테이블 미완성 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48386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  <a:latin typeface="Arial"/>
              </a:rPr>
              <a:t>수기테이블 완성 → 데이터 재생성 요청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89920" y="3282696"/>
            <a:ext cx="731520" cy="256032"/>
          </a:xfrm>
          <a:prstGeom prst="roundRect">
            <a:avLst>
              <a:gd name="adj" fmla="val 30000"/>
            </a:avLst>
          </a:prstGeom>
          <a:solidFill>
            <a:srgbClr val="3D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32826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IF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142232"/>
            <a:ext cx="475488" cy="475488"/>
          </a:xfrm>
          <a:prstGeom prst="ellipse">
            <a:avLst/>
          </a:prstGeom>
          <a:solidFill>
            <a:srgbClr val="EFE9DE"/>
          </a:solidFill>
          <a:ln w="19050">
            <a:solidFill>
              <a:srgbClr val="CC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4223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41413"/>
                </a:solidFill>
                <a:latin typeface="Arial"/>
              </a:rPr>
              <a:t>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617720"/>
            <a:ext cx="18288" cy="164592"/>
          </a:xfrm>
          <a:prstGeom prst="rect">
            <a:avLst/>
          </a:prstGeom>
          <a:solidFill>
            <a:srgbClr val="C8BFB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41788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3"/>
                </a:solidFill>
                <a:latin typeface="Arial"/>
              </a:rPr>
              <a:t>데이터 생성 완료 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44531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  <a:latin typeface="Arial"/>
              </a:rPr>
              <a:t>네이버클라우드·한전 수익성 조정 → KA 특이사항 체크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89920" y="4251960"/>
            <a:ext cx="731520" cy="256032"/>
          </a:xfrm>
          <a:prstGeom prst="roundRect">
            <a:avLst>
              <a:gd name="adj" fmla="val 30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4251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ELSE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5111496"/>
            <a:ext cx="475488" cy="475488"/>
          </a:xfrm>
          <a:prstGeom prst="ellipse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11149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41413"/>
                </a:solidFill>
                <a:latin typeface="Arial"/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514807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413"/>
                </a:solidFill>
                <a:latin typeface="Arial"/>
              </a:rPr>
              <a:t>Eye-Checking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5422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  <a:latin typeface="Arial"/>
              </a:rPr>
              <a:t>Claude 양식 생성 → 항목별 육안 확인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89920" y="5221224"/>
            <a:ext cx="777240" cy="256032"/>
          </a:xfrm>
          <a:prstGeom prst="roundRect">
            <a:avLst>
              <a:gd name="adj" fmla="val 30000"/>
            </a:avLst>
          </a:prstGeom>
          <a:solidFill>
            <a:srgbClr val="2E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0" y="522122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최종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989320"/>
            <a:ext cx="10515600" cy="420624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6062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  <a:latin typeface="Arial"/>
              </a:rPr>
              <a:t>비정기 작업 (필요시만)  —  수기테이블 정의 업데이트 · 고객 마스터 정비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78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CAA"/>
                </a:solidFill>
                <a:latin typeface="Arial"/>
              </a:rPr>
              <a:t>01 · 데이터 생성 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수기테이블 정비 — 11일 배치 이전 완료 필수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D8"/>
                </a:solidFill>
                <a:latin typeface="Arial"/>
              </a:rPr>
              <a:t>에스원·KGM·토요타 보정매출 기입 + 한전 PL 수익률 완성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486400" cy="5303520"/>
          </a:xfrm>
          <a:prstGeom prst="roundRect">
            <a:avLst>
              <a:gd name="adj" fmla="val 4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📦  보정매출 수기 기입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1280160" cy="237744"/>
          </a:xfrm>
          <a:prstGeom prst="roundRect">
            <a:avLst>
              <a:gd name="adj" fmla="val 30000"/>
            </a:avLst>
          </a:prstGeom>
          <a:solidFill>
            <a:srgbClr val="F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3716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94A2D"/>
                </a:solidFill>
                <a:latin typeface="Arial"/>
              </a:rPr>
              <a:t>월평균 4~5억 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5212080" cy="502920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182880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92224"/>
            <a:ext cx="4736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에스원  보정매출 → 매출조정 수기테이블 기입</a:t>
            </a:r>
          </a:p>
          <a:p>
            <a:pPr algn="l"/>
            <a:r>
              <a:rPr sz="900" b="0">
                <a:solidFill>
                  <a:srgbClr val="6C6A64"/>
                </a:solidFill>
                <a:latin typeface="Arial"/>
              </a:rPr>
              <a:t>손익코드: M21 / M2M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5212080" cy="502920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242316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386584"/>
            <a:ext cx="4736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KGM  보정매출 → 매출조정 수기테이블 기입</a:t>
            </a:r>
          </a:p>
          <a:p>
            <a:pPr algn="l"/>
            <a:r>
              <a:rPr sz="900" b="0">
                <a:solidFill>
                  <a:srgbClr val="6C6A64"/>
                </a:solidFill>
                <a:latin typeface="Arial"/>
              </a:rPr>
              <a:t>손익코드: T35 / 커넥티드카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26080"/>
            <a:ext cx="5212080" cy="502920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301752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980944"/>
            <a:ext cx="4736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토요타  보정매출 → 매출조정 수기테이블 기입</a:t>
            </a:r>
          </a:p>
          <a:p>
            <a:pPr algn="l"/>
            <a:r>
              <a:rPr sz="900" b="0">
                <a:solidFill>
                  <a:srgbClr val="6C6A64"/>
                </a:solidFill>
                <a:latin typeface="Arial"/>
              </a:rPr>
              <a:t>손익코드: T35 / 커넥티드카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0440"/>
            <a:ext cx="5212080" cy="502920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36118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575304"/>
            <a:ext cx="4736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한전 PL 수익률  수기테이블 완성</a:t>
            </a:r>
          </a:p>
          <a:p>
            <a:pPr algn="l"/>
            <a:r>
              <a:rPr sz="900" b="0">
                <a:solidFill>
                  <a:srgbClr val="6C6A64"/>
                </a:solidFill>
                <a:latin typeface="Arial"/>
              </a:rPr>
              <a:t>기획팀 PL 자료 수령 후 즉시 입력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5212080" cy="640080"/>
          </a:xfrm>
          <a:prstGeom prst="roundRect">
            <a:avLst>
              <a:gd name="adj" fmla="val 5000"/>
            </a:avLst>
          </a:prstGeom>
          <a:solidFill>
            <a:srgbClr val="FFF5EC"/>
          </a:solidFill>
          <a:ln w="15240">
            <a:solidFill>
              <a:srgbClr val="CC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Arial"/>
              </a:rPr>
              <a:t>⚡ 타이밍 주의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16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3D3A"/>
                </a:solidFill>
                <a:latin typeface="Arial"/>
              </a:rPr>
              <a:t>DW 매출·PL 자료는 11일 전후 유동적 — 수령 즉시 기입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1887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A64"/>
                </a:solidFill>
                <a:latin typeface="Arial"/>
              </a:rPr>
              <a:t>금액 확인 방법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554480"/>
            <a:ext cx="5760720" cy="100584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6208" y="1783080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17830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69164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기업 DW — 영업사원별 손익 보정매출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01168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  <a:latin typeface="Arial"/>
              </a:rPr>
              <a:t>가장 직접적. DW 접근 권한 필요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2651760"/>
            <a:ext cx="5760720" cy="100584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36208" y="2880360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28803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78892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파트너플러스 — 사업자별 정산금액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10896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  <a:latin typeface="Arial"/>
              </a:rPr>
              <a:t>DW 대비 쉬움. 계정 체계 매핑 주의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3749040"/>
            <a:ext cx="5760720" cy="100584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6208" y="3977640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397764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A64"/>
                </a:solidFill>
                <a:latin typeface="Arial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88620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담당 영업사원에게 직접 확인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20624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  <a:latin typeface="Arial"/>
              </a:rPr>
              <a:t>A/B 불가 시 최후 수단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4846320"/>
            <a:ext cx="5760720" cy="1234440"/>
          </a:xfrm>
          <a:prstGeom prst="roundRect">
            <a:avLst>
              <a:gd name="adj" fmla="val 5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9377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Arial"/>
              </a:rPr>
              <a:t>📌  전체 흐름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193792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D3D3A"/>
                </a:solidFill>
                <a:latin typeface="Arial"/>
              </a:rPr>
              <a:t>DW 매출 자료 수령  →  보정매출 금액 확인 (A/B/C)</a:t>
            </a:r>
          </a:p>
          <a:p>
            <a:pPr algn="l"/>
            <a:r>
              <a:rPr sz="1000" b="0">
                <a:solidFill>
                  <a:srgbClr val="3D3D3A"/>
                </a:solidFill>
                <a:latin typeface="Arial"/>
              </a:rPr>
              <a:t>→  매출조정 수기테이블 기입  →  11일 배치 대기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3D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Arial"/>
              </a:rPr>
              <a:t>자동 실행 · 담당자 액션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매월 11일 — 데이터 배치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AA"/>
                </a:solidFill>
                <a:latin typeface="Arial"/>
              </a:rPr>
              <a:t>스케줄러가 DW 원장 생성 감지 시점에 후속 배치 자동 트리거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12064" cy="512064"/>
          </a:xfrm>
          <a:prstGeom prst="roundRect">
            <a:avLst>
              <a:gd name="adj" fmla="val 10000"/>
            </a:avLst>
          </a:prstGeom>
          <a:solidFill>
            <a:srgbClr val="F5F0E8"/>
          </a:solidFill>
          <a:ln w="1905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D3D3A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3"/>
                </a:solidFill>
                <a:latin typeface="Arial"/>
              </a:rPr>
              <a:t>매월 6 영업일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66420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기업 DW 확정매출 및 부문별 PL 계정 산출 마감
달력상 9~10일경 유동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1792224"/>
            <a:ext cx="18288" cy="859536"/>
          </a:xfrm>
          <a:prstGeom prst="rect">
            <a:avLst/>
          </a:prstGeom>
          <a:solidFill>
            <a:srgbClr val="C8BFB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512064" cy="512064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19050">
            <a:solidFill>
              <a:srgbClr val="CC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785C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3"/>
                </a:solidFill>
                <a:latin typeface="Arial"/>
              </a:rPr>
              <a:t>매월 11일 04:00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03580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DW → 분석 데이터레이크(DL) 이관 및 적재 자동 완료
공휴일 무관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3163824"/>
            <a:ext cx="18288" cy="859536"/>
          </a:xfrm>
          <a:prstGeom prst="rect">
            <a:avLst/>
          </a:prstGeom>
          <a:solidFill>
            <a:srgbClr val="C8BFB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512064" cy="512064"/>
          </a:xfrm>
          <a:prstGeom prst="roundRect">
            <a:avLst>
              <a:gd name="adj" fmla="val 10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3"/>
                </a:solidFill>
                <a:latin typeface="Arial"/>
              </a:rPr>
              <a:t>매월 11일 05:00~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440740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DL 원장 조인 → 성과관리 데이터 마트 구축
스케줄러 감지 후 연쇄 기동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86400"/>
            <a:ext cx="5669280" cy="594360"/>
          </a:xfrm>
          <a:prstGeom prst="roundRect">
            <a:avLst>
              <a:gd name="adj" fmla="val 6000"/>
            </a:avLst>
          </a:prstGeom>
          <a:solidFill>
            <a:srgbClr val="D4EDE8"/>
          </a:solidFill>
          <a:ln w="15240">
            <a:solidFill>
              <a:srgbClr val="A8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5595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A6A"/>
                </a:solidFill>
                <a:latin typeface="Arial"/>
              </a:rPr>
              <a:t>✓  연휴·마감 지연 시에도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7790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A6A"/>
                </a:solidFill>
                <a:latin typeface="Arial"/>
              </a:rPr>
              <a:t>인위적 수동 조정 불필요 — 스케줄러가 DW 원장 생성 감지 즉시 자동 트리거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2801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배치 완료 후 분기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664208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F0EEE5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37960" y="1783080"/>
            <a:ext cx="475488" cy="237744"/>
          </a:xfrm>
          <a:prstGeom prst="roundRect">
            <a:avLst>
              <a:gd name="adj" fmla="val 30000"/>
            </a:avLst>
          </a:prstGeom>
          <a:solidFill>
            <a:srgbClr val="3D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783080"/>
            <a:ext cx="475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755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수기테이블 미완성 항목 있을 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12140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3D3A"/>
                </a:solidFill>
                <a:latin typeface="Arial"/>
              </a:rPr>
              <a:t>1. 누락 수기테이블 항목 완성</a:t>
            </a:r>
          </a:p>
          <a:p>
            <a:pPr algn="l"/>
            <a:r>
              <a:rPr sz="1100" b="0">
                <a:solidFill>
                  <a:srgbClr val="3D3D3A"/>
                </a:solidFill>
                <a:latin typeface="Arial"/>
              </a:rPr>
              <a:t>2. 성과관리 데이터 재생성 요청</a:t>
            </a:r>
          </a:p>
          <a:p>
            <a:pPr algn="l"/>
            <a:r>
              <a:rPr sz="1100" b="0">
                <a:solidFill>
                  <a:srgbClr val="CC785C"/>
                </a:solidFill>
                <a:latin typeface="Arial"/>
              </a:rPr>
              <a:t>3. 완료 후 → ELSE 루틴 수행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4904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FDF0E8"/>
          </a:solidFill>
          <a:ln w="15240">
            <a:solidFill>
              <a:srgbClr val="CC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37960" y="3867912"/>
            <a:ext cx="676656" cy="237744"/>
          </a:xfrm>
          <a:prstGeom prst="roundRect">
            <a:avLst>
              <a:gd name="adj" fmla="val 30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86791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84048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수기테이블 완성 상태인 경우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2062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3D3A"/>
                </a:solidFill>
                <a:latin typeface="Arial"/>
              </a:rPr>
              <a:t>1. KA 고객 매출·이익 및 심의내역 추출</a:t>
            </a:r>
          </a:p>
          <a:p>
            <a:pPr algn="l"/>
            <a:r>
              <a:rPr sz="1100" b="0">
                <a:solidFill>
                  <a:srgbClr val="3D3D3A"/>
                </a:solidFill>
                <a:latin typeface="Arial"/>
              </a:rPr>
              <a:t>2. 네이버클라우드·한전 수익성 조정</a:t>
            </a:r>
          </a:p>
          <a:p>
            <a:pPr algn="l"/>
            <a:r>
              <a:rPr sz="1100" b="0">
                <a:solidFill>
                  <a:srgbClr val="3D3D3A"/>
                </a:solidFill>
                <a:latin typeface="Arial"/>
              </a:rPr>
              <a:t>3. 나머지 KA 고객 특이사항 Eye-Checking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3D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Arial"/>
              </a:rPr>
              <a:t>조건부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IF — 수기테이블 미완성 시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AA"/>
                </a:solidFill>
                <a:latin typeface="Arial"/>
              </a:rPr>
              <a:t>배치 실행 후 누락 항목이 있을 경우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046720" cy="1920240"/>
          </a:xfrm>
          <a:prstGeom prst="roundRect">
            <a:avLst>
              <a:gd name="adj" fmla="val 5000"/>
            </a:avLst>
          </a:prstGeom>
          <a:solidFill>
            <a:srgbClr val="3D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Arial"/>
              </a:rPr>
              <a:t>IF: 수기테이블 미완성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데이터 재생성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E0CC"/>
                </a:solidFill>
                <a:latin typeface="Arial"/>
              </a:rPr>
              <a:t>배치 완료 후 수기테이블 누락 항목을 추가로 기입한 뒤,</a:t>
            </a:r>
          </a:p>
          <a:p>
            <a:pPr algn="l"/>
            <a:r>
              <a:rPr sz="1100" b="0">
                <a:solidFill>
                  <a:srgbClr val="FFE0CC"/>
                </a:solidFill>
                <a:latin typeface="Arial"/>
              </a:rPr>
              <a:t>담당자에게 성과관리 데이터 재생성을 요청합니다.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371600"/>
            <a:ext cx="3108960" cy="594360"/>
          </a:xfrm>
          <a:prstGeom prst="roundRect">
            <a:avLst>
              <a:gd name="adj" fmla="val 12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141732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재생성 완료 →  ELSE 루틴 수행 (슬라이드 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A64"/>
                </a:solidFill>
                <a:latin typeface="Arial"/>
              </a:rPr>
              <a:t>재생성 전 체크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804672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" y="374904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712464"/>
            <a:ext cx="7571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에스원·KGM·토요타  보정매출 전부 기입 완료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51376"/>
            <a:ext cx="804672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24281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206240"/>
            <a:ext cx="7571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한전 PL 수익률  수기테이블 최신월 입력 완료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45152"/>
            <a:ext cx="804672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473659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700016"/>
            <a:ext cx="7571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재생성 완료 후 최신월 마트 적재 시간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194560"/>
            <a:ext cx="3108960" cy="4206240"/>
          </a:xfrm>
          <a:prstGeom prst="roundRect">
            <a:avLst>
              <a:gd name="adj" fmla="val 5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23042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Arial"/>
              </a:rPr>
              <a:t>주요 누락 체크 항목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96528" y="2651760"/>
            <a:ext cx="2834640" cy="438912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2832" y="272491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rial"/>
              </a:rPr>
              <a:t>에스원  M21 / M2M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96528" y="3200400"/>
            <a:ext cx="2834640" cy="438912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2832" y="327355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rial"/>
              </a:rPr>
              <a:t>KGM  T35 / 커넥티드카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96528" y="3749040"/>
            <a:ext cx="2834640" cy="438912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382219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rial"/>
              </a:rPr>
              <a:t>토요타  T35 / 커넥티드카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96528" y="4297680"/>
            <a:ext cx="2834640" cy="438912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42832" y="437083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rial"/>
              </a:rPr>
              <a:t>한전 PL 수익률 (P10)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78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CAA"/>
                </a:solidFill>
                <a:latin typeface="Arial"/>
              </a:rPr>
              <a:t>02 · 데이터 생성 완료 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수익성 조정 — 네이버클라우드 · 한전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D8"/>
                </a:solidFill>
                <a:latin typeface="Arial"/>
              </a:rPr>
              <a:t>배치 직후 예외 고객사 조정처리 반영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577840" cy="5303520"/>
          </a:xfrm>
          <a:prstGeom prst="roundRect">
            <a:avLst>
              <a:gd name="adj" fmla="val 4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777240" cy="237744"/>
          </a:xfrm>
          <a:prstGeom prst="roundRect">
            <a:avLst>
              <a:gd name="adj" fmla="val 30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785C"/>
                </a:solidFill>
                <a:latin typeface="Arial"/>
              </a:rPr>
              <a:t>예외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rial"/>
              </a:rPr>
              <a:t>네이버클라우드 (코람코 IDC)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  <a:latin typeface="Arial"/>
              </a:rPr>
              <a:t>Billing 역산 예외처리 — 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86000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237744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340864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UCube에서 네이버클라우드 청구계정  청구금액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79776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287121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834640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11일 이후 최신월 성과관리 데이터  생성 완료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73552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" y="336499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328416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심의내역에서 네이버 IDC 코람코 관련 심의 찾아
반영매출을 1월~최신월 누적값으로 조정처리 반영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13048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FFF5EC"/>
          </a:solidFill>
          <a:ln w="15240">
            <a:solidFill>
              <a:srgbClr val="CC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770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Arial"/>
              </a:rPr>
              <a:t>✗ 왜곡 원인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8736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3D3A"/>
                </a:solidFill>
                <a:latin typeface="Arial"/>
              </a:rPr>
              <a:t>심의 이익률 약 1.53%로 극히 낮고 초기 매출 과소 계상 → 이익률 왜곡
→ 실제 청구 매출(Billing) 기준으로 역산 적용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188720"/>
            <a:ext cx="5577840" cy="5303520"/>
          </a:xfrm>
          <a:prstGeom prst="roundRect">
            <a:avLst>
              <a:gd name="adj" fmla="val 4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1280160"/>
            <a:ext cx="777240" cy="237744"/>
          </a:xfrm>
          <a:prstGeom prst="roundRect">
            <a:avLst>
              <a:gd name="adj" fmla="val 30000"/>
            </a:avLst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280160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C6A64"/>
                </a:solidFill>
                <a:latin typeface="Arial"/>
              </a:rPr>
              <a:t>예외 #2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554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rial"/>
              </a:rPr>
              <a:t>한전 KEPCO 전력통신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9202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  <a:latin typeface="Arial"/>
              </a:rPr>
              <a:t>PL 이익률 강제 적용 — 4단계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286000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46520" y="237744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9128" y="2340864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6영업일 즈음 기획팀에서 전달하는  PL 자료 수령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779776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46520" y="287121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39128" y="2834640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PL 자료로 PL 수익률 수기테이블 완성
→ 최신월 P10 전력통신 수익률 입력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3273552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336499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39128" y="3328416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11일 이후 최신월 성과관리 데이터  생성 완료 확인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3767328"/>
            <a:ext cx="539496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46520" y="385876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39128" y="3822192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심의내역에서 한전 P10 전력통신 심의 찾아
수익률을 PL 수익률로 조정처리 반영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4306824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FFF5EC"/>
          </a:solidFill>
          <a:ln w="15240">
            <a:solidFill>
              <a:srgbClr val="CC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3525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Arial"/>
              </a:rPr>
              <a:t>✗ 왜곡 원인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5354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3D3A"/>
                </a:solidFill>
                <a:latin typeface="Arial"/>
              </a:rPr>
              <a:t>한전↔전력통신 상호집중 구조 → VRB 심의 극소 → 일반 로직 정합성 훼손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78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CAA"/>
                </a:solidFill>
                <a:latin typeface="Arial"/>
              </a:rPr>
              <a:t>03 · 최종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Eye-Checking — KA 고객 특이사항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D8"/>
                </a:solidFill>
                <a:latin typeface="Arial"/>
              </a:rPr>
              <a:t>Claude로 체크 양식 생성 → 항목별 육안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4754880" cy="822960"/>
          </a:xfrm>
          <a:prstGeom prst="roundRect">
            <a:avLst>
              <a:gd name="adj" fmla="val 5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344168"/>
            <a:ext cx="475488" cy="475488"/>
          </a:xfrm>
          <a:prstGeom prst="ellipse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44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Claude에 체크 양식 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572768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  <a:latin typeface="Arial"/>
              </a:rPr>
              <a:t>KA 고객 목록 + 해당 월 성과 데이터 첨부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BFB4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188720"/>
            <a:ext cx="4754880" cy="822960"/>
          </a:xfrm>
          <a:prstGeom prst="roundRect">
            <a:avLst>
              <a:gd name="adj" fmla="val 5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06440" y="1344168"/>
            <a:ext cx="475488" cy="475488"/>
          </a:xfrm>
          <a:prstGeom prst="ellipse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1344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항목별 육안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572768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  <a:latin typeface="Arial"/>
              </a:rPr>
              <a:t>이상 항목 발견 시 원인 파악 및 수정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2402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A64"/>
                </a:solidFill>
                <a:latin typeface="Arial"/>
              </a:rPr>
              <a:t>수치 이상 체크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60320"/>
            <a:ext cx="557784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" y="265176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6151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매출 급변동 — 전월 대비 ±30% 초과 여부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035808"/>
            <a:ext cx="557784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7200" y="312724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9067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이익률 이상 — 업계 평균 대비 극단값 여부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511296"/>
            <a:ext cx="557784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360273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56616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GRR/NRR 이상 — 100% 초과 또는 극단 하락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986784"/>
            <a:ext cx="557784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407822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041648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수주잔고 갑작스러운 변동 여부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402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A64"/>
                </a:solidFill>
                <a:latin typeface="Arial"/>
              </a:rPr>
              <a:t>데이터 정합성 체크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560320"/>
            <a:ext cx="557784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0" y="265176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26151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심의내역 누락 — VRB 심의 등록 여부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035808"/>
            <a:ext cx="557784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0" y="312724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8" y="309067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네이버클라우드·한전 수익성 조정 완료 확인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511296"/>
            <a:ext cx="557784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360273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3408" y="356616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에스원·KGM·토요타 보정매출 반영 확인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3986784"/>
            <a:ext cx="5577840" cy="384048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407822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93408" y="4041648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1413"/>
                </a:solidFill>
                <a:latin typeface="Arial"/>
              </a:rPr>
              <a:t>신규 고객 마스터 매핑 오류 없음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6A6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0CDC5"/>
                </a:solidFill>
                <a:latin typeface="Arial"/>
              </a:rPr>
              <a:t>비정기 · 필요시만 수행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수기테이블 정의 업데이트 · 고객 마스터 정비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CDC5"/>
                </a:solidFill>
                <a:latin typeface="Arial"/>
              </a:rPr>
              <a:t>변경 사유 발생 시 즉시 처리 — 정기 주기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A64"/>
                </a:solidFill>
                <a:latin typeface="Arial"/>
              </a:rPr>
              <a:t>수기테이블 정의 업데이트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5486400" cy="64008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18488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C6A64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819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KA 고객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562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  <a:latin typeface="Arial"/>
              </a:rPr>
              <a:t>Key Account 식별 기준 변경 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73352"/>
            <a:ext cx="685800" cy="274320"/>
          </a:xfrm>
          <a:prstGeom prst="roundRect">
            <a:avLst>
              <a:gd name="adj" fmla="val 30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67335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C6A64"/>
                </a:solidFill>
                <a:latin typeface="Arial"/>
              </a:rPr>
              <a:t>필요시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258568"/>
            <a:ext cx="5486400" cy="64008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368296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6829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C6A64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GA 고객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6060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  <a:latin typeface="Arial"/>
              </a:rPr>
              <a:t>General Account 기준 변경 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423160"/>
            <a:ext cx="685800" cy="274320"/>
          </a:xfrm>
          <a:prstGeom prst="roundRect">
            <a:avLst>
              <a:gd name="adj" fmla="val 30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4231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C6A64"/>
                </a:solidFill>
                <a:latin typeface="Arial"/>
              </a:rPr>
              <a:t>필요시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008376"/>
            <a:ext cx="5486400" cy="64008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118104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C6A64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081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고객 그룹핑 정의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35584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  <a:latin typeface="Arial"/>
              </a:rPr>
              <a:t>복수 고객 단일 그룹 매핑 변경 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172968"/>
            <a:ext cx="685800" cy="274320"/>
          </a:xfrm>
          <a:prstGeom prst="roundRect">
            <a:avLst>
              <a:gd name="adj" fmla="val 30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3172968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C6A64"/>
                </a:solidFill>
                <a:latin typeface="Arial"/>
              </a:rPr>
              <a:t>필요시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758184"/>
            <a:ext cx="5486400" cy="64008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3867912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8679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C6A64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8313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고객군 정의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10565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  <a:latin typeface="Arial"/>
              </a:rPr>
              <a:t>산업군 세그먼트 분류 변경 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3922776"/>
            <a:ext cx="685800" cy="274320"/>
          </a:xfrm>
          <a:prstGeom prst="roundRect">
            <a:avLst>
              <a:gd name="adj" fmla="val 30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92277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C6A64"/>
                </a:solidFill>
                <a:latin typeface="Arial"/>
              </a:rPr>
              <a:t>필요시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1170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A64"/>
                </a:solidFill>
                <a:latin typeface="Arial"/>
              </a:rPr>
              <a:t>고객 마스터 정비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1508760"/>
            <a:ext cx="5486400" cy="64008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1618488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16184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41413"/>
                </a:solidFill>
                <a:latin typeface="Arial"/>
              </a:rPr>
              <a:t>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15819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사업자번호 매핑 오류 수정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18562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  <a:latin typeface="Arial"/>
              </a:rPr>
              <a:t>중복 계정 정제 / 유일 고객 ID 재발급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84665" y="1673352"/>
            <a:ext cx="1042415" cy="274320"/>
          </a:xfrm>
          <a:prstGeom prst="roundRect">
            <a:avLst>
              <a:gd name="adj" fmla="val 30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84665" y="1673352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C6A64"/>
                </a:solidFill>
                <a:latin typeface="Arial"/>
              </a:rPr>
              <a:t>오류 발견 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2258568"/>
            <a:ext cx="5486400" cy="64008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46520" y="2368296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36829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41413"/>
                </a:solidFill>
                <a:latin typeface="Arial"/>
              </a:rPr>
              <a:t>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신규 고객 등록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2606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  <a:latin typeface="Arial"/>
              </a:rPr>
              <a:t>사업자번호 확인 후 마스터 추가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84665" y="2423160"/>
            <a:ext cx="1042415" cy="274320"/>
          </a:xfrm>
          <a:prstGeom prst="roundRect">
            <a:avLst>
              <a:gd name="adj" fmla="val 30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84665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C6A64"/>
                </a:solidFill>
                <a:latin typeface="Arial"/>
              </a:rPr>
              <a:t>신규 발생 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3008376"/>
            <a:ext cx="5486400" cy="64008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46520" y="3118104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41413"/>
                </a:solidFill>
                <a:latin typeface="Arial"/>
              </a:rPr>
              <a:t>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67728" y="3081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수기테이블 항목 수 변동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7728" y="33558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  <a:latin typeface="Arial"/>
              </a:rPr>
              <a:t>현재 18개 수기테이블 구조 변경 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84665" y="3172968"/>
            <a:ext cx="1042415" cy="274320"/>
          </a:xfrm>
          <a:prstGeom prst="roundRect">
            <a:avLst>
              <a:gd name="adj" fmla="val 30000"/>
            </a:avLst>
          </a:prstGeom>
          <a:solidFill>
            <a:srgbClr val="F5F0E8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84665" y="3172968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C6A64"/>
                </a:solidFill>
                <a:latin typeface="Arial"/>
              </a:rPr>
              <a:t>구조 변경 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9360" y="3849624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EFE9DE"/>
          </a:solidFill>
          <a:ln w="15240">
            <a:solidFill>
              <a:srgbClr val="C8B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39227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785C"/>
                </a:solidFill>
                <a:latin typeface="Arial"/>
              </a:rPr>
              <a:t>📌  수기테이블 현황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41696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D3D3A"/>
                </a:solidFill>
                <a:latin typeface="Arial"/>
              </a:rPr>
              <a:t>전체 18개 중  주요 관리 7개만 매월 점검</a:t>
            </a:r>
          </a:p>
          <a:p>
            <a:pPr algn="l"/>
            <a:r>
              <a:rPr sz="900" b="0">
                <a:solidFill>
                  <a:srgbClr val="6C6A64"/>
                </a:solidFill>
                <a:latin typeface="Arial"/>
              </a:rPr>
              <a:t>나머지 11개는 필요시 담당자 확인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5760" y="5989320"/>
            <a:ext cx="11430000" cy="640080"/>
          </a:xfrm>
          <a:prstGeom prst="roundRect">
            <a:avLst>
              <a:gd name="adj" fmla="val 6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이번 달 작업 완료 🎉   다음 달 11일 배치 전까지 수기테이블 수령 즉시 대응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