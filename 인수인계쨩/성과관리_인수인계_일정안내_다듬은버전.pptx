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40280" cy="685800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40280" cy="749808"/>
          </a:xfrm>
          <a:prstGeom prst="rect">
            <a:avLst/>
          </a:prstGeom>
          <a:solidFill>
            <a:srgbClr val="3F3F3F"/>
          </a:solidFill>
          <a:ln w="12700">
            <a:solidFill>
              <a:srgbClr val="3F3F3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6576" cy="749808"/>
          </a:xfrm>
          <a:prstGeom prst="rect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" y="118872"/>
            <a:ext cx="1920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LG U+  성과관리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" y="438912"/>
            <a:ext cx="19202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인수인계 일정 안내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2240280" cy="713232"/>
          </a:xfrm>
          <a:prstGeom prst="rect">
            <a:avLst/>
          </a:prstGeom>
          <a:solidFill>
            <a:srgbClr val="3F3F3F"/>
          </a:solidFill>
          <a:ln w="12700">
            <a:solidFill>
              <a:srgbClr val="3F3F3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804672"/>
            <a:ext cx="36576" cy="713232"/>
          </a:xfrm>
          <a:prstGeom prst="rect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932688"/>
            <a:ext cx="347472" cy="347472"/>
          </a:xfrm>
          <a:prstGeom prst="ellipse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932688"/>
            <a:ext cx="34747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886968"/>
            <a:ext cx="1417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1188720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E8B8C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필요성·전체 흐름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310896" y="1371600"/>
            <a:ext cx="18288" cy="3657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1901952"/>
            <a:ext cx="274320" cy="274320"/>
          </a:xfrm>
          <a:prstGeom prst="ellipse">
            <a:avLst/>
          </a:prstGeom>
          <a:solidFill>
            <a:srgbClr val="AFAFAF"/>
          </a:solidFill>
          <a:ln w="12700">
            <a:solidFill>
              <a:srgbClr val="AFAFA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4A4A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1828800"/>
            <a:ext cx="1417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생성 전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" y="2103120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D0D0D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월초 ~ 11일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310896" y="2304288"/>
            <a:ext cx="18288" cy="3657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2834640"/>
            <a:ext cx="274320" cy="274320"/>
          </a:xfrm>
          <a:prstGeom prst="ellipse">
            <a:avLst/>
          </a:prstGeom>
          <a:solidFill>
            <a:srgbClr val="AFAFAF"/>
          </a:solidFill>
          <a:ln w="12700">
            <a:solidFill>
              <a:srgbClr val="AFAFA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4A4A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368" y="2761488"/>
            <a:ext cx="1417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정기 배치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3035808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D0D0D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매월 11일 자동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310896" y="3236976"/>
            <a:ext cx="18288" cy="3657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767328"/>
            <a:ext cx="274320" cy="274320"/>
          </a:xfrm>
          <a:prstGeom prst="ellipse">
            <a:avLst/>
          </a:prstGeom>
          <a:solidFill>
            <a:srgbClr val="AFAFAF"/>
          </a:solidFill>
          <a:ln w="12700">
            <a:solidFill>
              <a:srgbClr val="AFAFA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4A4A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368" y="3694176"/>
            <a:ext cx="1417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생성 후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" y="3968496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D0D0D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11일 이후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310896" y="4169664"/>
            <a:ext cx="18288" cy="3657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" y="4700016"/>
            <a:ext cx="274320" cy="274320"/>
          </a:xfrm>
          <a:prstGeom prst="ellipse">
            <a:avLst/>
          </a:prstGeom>
          <a:solidFill>
            <a:srgbClr val="AFAFAF"/>
          </a:solidFill>
          <a:ln w="12700">
            <a:solidFill>
              <a:srgbClr val="AFAFA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" y="4700016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4A4A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58368" y="4626864"/>
            <a:ext cx="1417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후속·병렬 작업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8368" y="4901184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D0D0D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확인 이후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2240280" y="0"/>
            <a:ext cx="9951415" cy="6858000"/>
          </a:xfrm>
          <a:prstGeom prst="rect">
            <a:avLst/>
          </a:prstGeom>
          <a:solidFill>
            <a:srgbClr val="F6F5F2"/>
          </a:solidFill>
          <a:ln w="12700">
            <a:solidFill>
              <a:srgbClr val="F6F5F2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40280" y="0"/>
            <a:ext cx="9951415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40280" y="713232"/>
            <a:ext cx="9951415" cy="41148"/>
          </a:xfrm>
          <a:prstGeom prst="rect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0" y="91440"/>
            <a:ext cx="9235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요약 및 인수인계 필요성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2560320" y="475488"/>
            <a:ext cx="9235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7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성과관리시스템 월간 운영 흐름과 현 시점 인수인계 착수 필요성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2560320" y="987552"/>
            <a:ext cx="9189720" cy="104241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E4E1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0" y="987552"/>
            <a:ext cx="54864" cy="1042416"/>
          </a:xfrm>
          <a:prstGeom prst="rect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0" y="987552"/>
            <a:ext cx="1280160" cy="10424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메시지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977640" y="1115568"/>
            <a:ext cx="7516368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010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성과관리시스템 오픈 이후 제한된 운영 인력으로 데이터 생성 전 준비부터 정기 배치, 성과지표 검증, 경영성과리뷰 후속 작업까지 폭넓은 영역을 수행해왔습니다. 담당자 복직 연기 등으로 실제 인수인계 가능 시간이 부족해진 만큼, 현 시점부터 월간 운영 전 과정을 기준으로 인수인계를 시작할 필요가 있습니다.</a:t>
            </a:r>
            <a:endParaRPr lang="en-US" sz="1010" dirty="0"/>
          </a:p>
        </p:txBody>
      </p:sp>
      <p:sp>
        <p:nvSpPr>
          <p:cNvPr id="42" name="Shape 40"/>
          <p:cNvSpPr/>
          <p:nvPr/>
        </p:nvSpPr>
        <p:spPr>
          <a:xfrm>
            <a:off x="2560320" y="2249424"/>
            <a:ext cx="2788920" cy="1261872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6350">
            <a:solidFill>
              <a:srgbClr val="E4E1D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61488" y="2432304"/>
            <a:ext cx="310896" cy="310896"/>
          </a:xfrm>
          <a:prstGeom prst="ellipse">
            <a:avLst/>
          </a:prstGeom>
          <a:solidFill>
            <a:srgbClr val="4A4A4A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61488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182112" y="2395728"/>
            <a:ext cx="1920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2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 범위 확대</a:t>
            </a:r>
            <a:endParaRPr lang="en-US" sz="1120" dirty="0"/>
          </a:p>
        </p:txBody>
      </p:sp>
      <p:sp>
        <p:nvSpPr>
          <p:cNvPr id="46" name="Text 44"/>
          <p:cNvSpPr/>
          <p:nvPr/>
        </p:nvSpPr>
        <p:spPr>
          <a:xfrm>
            <a:off x="2761488" y="2798064"/>
            <a:ext cx="2395728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시스템 오픈 이후 수기테이블, 마스터·분류 정보, 조정 대상 실적, 성과지표 검증까지 운영자가 직접 관리하는 영역이 넓어짐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5669280" y="2249424"/>
            <a:ext cx="2788920" cy="1261872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6350">
            <a:solidFill>
              <a:srgbClr val="E4E1D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70448" y="2432304"/>
            <a:ext cx="310896" cy="310896"/>
          </a:xfrm>
          <a:prstGeom prst="ellipse">
            <a:avLst/>
          </a:prstGeom>
          <a:solidFill>
            <a:srgbClr val="A43D72"/>
          </a:solidFill>
          <a:ln w="6350">
            <a:solidFill>
              <a:srgbClr val="A43D7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70448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91072" y="2395728"/>
            <a:ext cx="1920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2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인수인계 시간 부족</a:t>
            </a:r>
            <a:endParaRPr lang="en-US" sz="1120" dirty="0"/>
          </a:p>
        </p:txBody>
      </p:sp>
      <p:sp>
        <p:nvSpPr>
          <p:cNvPr id="51" name="Text 49"/>
          <p:cNvSpPr/>
          <p:nvPr/>
        </p:nvSpPr>
        <p:spPr>
          <a:xfrm>
            <a:off x="5870448" y="2798064"/>
            <a:ext cx="2395728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담당자 복직 연기 등으로 충분한 대면/실습 인수인계 시간이 확보되기 어려워 선제적인 착수가 필요함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8778240" y="2249424"/>
            <a:ext cx="2788920" cy="1261872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6350">
            <a:solidFill>
              <a:srgbClr val="E4E1D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979408" y="2432304"/>
            <a:ext cx="310896" cy="310896"/>
          </a:xfrm>
          <a:prstGeom prst="ellipse">
            <a:avLst/>
          </a:prstGeom>
          <a:solidFill>
            <a:srgbClr val="4A4A4A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79408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9400032" y="2395728"/>
            <a:ext cx="1920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2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월간 작업 연속성</a:t>
            </a:r>
            <a:endParaRPr lang="en-US" sz="1120" dirty="0"/>
          </a:p>
        </p:txBody>
      </p:sp>
      <p:sp>
        <p:nvSpPr>
          <p:cNvPr id="56" name="Text 54"/>
          <p:cNvSpPr/>
          <p:nvPr/>
        </p:nvSpPr>
        <p:spPr>
          <a:xfrm>
            <a:off x="8979408" y="2798064"/>
            <a:ext cx="2395728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월초 준비부터 11일 정기 배치, 11일 이후 검증·리뷰까지 월중순 이상 이어지는 흐름형 업무임</a:t>
            </a:r>
            <a:endParaRPr lang="en-US" sz="880" dirty="0"/>
          </a:p>
        </p:txBody>
      </p:sp>
      <p:sp>
        <p:nvSpPr>
          <p:cNvPr id="57" name="Text 55"/>
          <p:cNvSpPr/>
          <p:nvPr/>
        </p:nvSpPr>
        <p:spPr>
          <a:xfrm>
            <a:off x="2560320" y="4169664"/>
            <a:ext cx="2560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월간 운영 인수인계 범위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743200" y="4910328"/>
            <a:ext cx="7315200" cy="36576"/>
          </a:xfrm>
          <a:prstGeom prst="rect">
            <a:avLst/>
          </a:prstGeom>
          <a:solidFill>
            <a:srgbClr val="D5D1C7"/>
          </a:solidFill>
          <a:ln w="12700">
            <a:solidFill>
              <a:srgbClr val="D5D1C7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43200" y="4745736"/>
            <a:ext cx="384048" cy="384048"/>
          </a:xfrm>
          <a:prstGeom prst="ellipse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3246120" y="4663440"/>
            <a:ext cx="16002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월초~11일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246120" y="4919472"/>
            <a:ext cx="18745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3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수기테이블·마스터 정리</a:t>
            </a:r>
            <a:endParaRPr lang="en-US" sz="830" dirty="0"/>
          </a:p>
        </p:txBody>
      </p:sp>
      <p:sp>
        <p:nvSpPr>
          <p:cNvPr id="63" name="Shape 61"/>
          <p:cNvSpPr/>
          <p:nvPr/>
        </p:nvSpPr>
        <p:spPr>
          <a:xfrm>
            <a:off x="3246120" y="5212080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46120" y="5212080"/>
            <a:ext cx="7132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6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4.7 MD</a:t>
            </a:r>
            <a:endParaRPr lang="en-US" sz="860" dirty="0"/>
          </a:p>
        </p:txBody>
      </p:sp>
      <p:sp>
        <p:nvSpPr>
          <p:cNvPr id="65" name="Shape 63"/>
          <p:cNvSpPr/>
          <p:nvPr/>
        </p:nvSpPr>
        <p:spPr>
          <a:xfrm>
            <a:off x="5074920" y="4745736"/>
            <a:ext cx="384048" cy="384048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7492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5577840" y="4663440"/>
            <a:ext cx="16002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11일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577840" y="4919472"/>
            <a:ext cx="18745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3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정기 배치 대응</a:t>
            </a:r>
            <a:endParaRPr lang="en-US" sz="830" dirty="0"/>
          </a:p>
        </p:txBody>
      </p:sp>
      <p:sp>
        <p:nvSpPr>
          <p:cNvPr id="69" name="Shape 67"/>
          <p:cNvSpPr/>
          <p:nvPr/>
        </p:nvSpPr>
        <p:spPr>
          <a:xfrm>
            <a:off x="5577840" y="5212080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5D1C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577840" y="5212080"/>
            <a:ext cx="7132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6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MD</a:t>
            </a:r>
            <a:endParaRPr lang="en-US" sz="860" dirty="0"/>
          </a:p>
        </p:txBody>
      </p:sp>
      <p:sp>
        <p:nvSpPr>
          <p:cNvPr id="71" name="Shape 69"/>
          <p:cNvSpPr/>
          <p:nvPr/>
        </p:nvSpPr>
        <p:spPr>
          <a:xfrm>
            <a:off x="7406640" y="4745736"/>
            <a:ext cx="384048" cy="384048"/>
          </a:xfrm>
          <a:prstGeom prst="ellipse">
            <a:avLst/>
          </a:prstGeom>
          <a:solidFill>
            <a:srgbClr val="168F83"/>
          </a:solidFill>
          <a:ln w="12700">
            <a:solidFill>
              <a:srgbClr val="168F83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0664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7909560" y="4663440"/>
            <a:ext cx="16002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11일 이후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909560" y="4919472"/>
            <a:ext cx="18745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3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성과지표 점검·리뷰</a:t>
            </a:r>
            <a:endParaRPr lang="en-US" sz="830" dirty="0"/>
          </a:p>
        </p:txBody>
      </p:sp>
      <p:sp>
        <p:nvSpPr>
          <p:cNvPr id="75" name="Shape 73"/>
          <p:cNvSpPr/>
          <p:nvPr/>
        </p:nvSpPr>
        <p:spPr>
          <a:xfrm>
            <a:off x="7909560" y="5212080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5D1C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909560" y="5212080"/>
            <a:ext cx="7132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6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5.6 MD</a:t>
            </a:r>
            <a:endParaRPr lang="en-US" sz="860" dirty="0"/>
          </a:p>
        </p:txBody>
      </p:sp>
      <p:sp>
        <p:nvSpPr>
          <p:cNvPr id="77" name="Shape 75"/>
          <p:cNvSpPr/>
          <p:nvPr/>
        </p:nvSpPr>
        <p:spPr>
          <a:xfrm>
            <a:off x="9738360" y="4745736"/>
            <a:ext cx="384048" cy="384048"/>
          </a:xfrm>
          <a:prstGeom prst="ellipse">
            <a:avLst/>
          </a:prstGeom>
          <a:solidFill>
            <a:srgbClr val="B66A20"/>
          </a:solidFill>
          <a:ln w="12700">
            <a:solidFill>
              <a:srgbClr val="B66A20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73836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10241280" y="4663440"/>
            <a:ext cx="16002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확인 이후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241280" y="4919472"/>
            <a:ext cx="18745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3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리뷰 양식·적재 확인</a:t>
            </a:r>
            <a:endParaRPr lang="en-US" sz="830" dirty="0"/>
          </a:p>
        </p:txBody>
      </p:sp>
      <p:sp>
        <p:nvSpPr>
          <p:cNvPr id="81" name="Shape 79"/>
          <p:cNvSpPr/>
          <p:nvPr/>
        </p:nvSpPr>
        <p:spPr>
          <a:xfrm>
            <a:off x="10241280" y="5212080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5D1C7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241280" y="5212080"/>
            <a:ext cx="7132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6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MD</a:t>
            </a:r>
            <a:endParaRPr lang="en-US" sz="860" dirty="0"/>
          </a:p>
        </p:txBody>
      </p:sp>
      <p:sp>
        <p:nvSpPr>
          <p:cNvPr id="83" name="Shape 81"/>
          <p:cNvSpPr/>
          <p:nvPr/>
        </p:nvSpPr>
        <p:spPr>
          <a:xfrm>
            <a:off x="2560320" y="5742432"/>
            <a:ext cx="7114032" cy="530352"/>
          </a:xfrm>
          <a:prstGeom prst="roundRect">
            <a:avLst>
              <a:gd name="adj" fmla="val 6897"/>
            </a:avLst>
          </a:prstGeom>
          <a:solidFill>
            <a:srgbClr val="F5E8E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761488" y="5742432"/>
            <a:ext cx="669340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2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따라서 지금부터 데이터 생성 전 준비 → 배치 → 검증·리뷰 → 후속 확인까지 실제 월간 사이클을 따라가며 인수인계를 진행해야 합니다.</a:t>
            </a:r>
            <a:endParaRPr lang="en-US" sz="920" dirty="0"/>
          </a:p>
        </p:txBody>
      </p:sp>
      <p:sp>
        <p:nvSpPr>
          <p:cNvPr id="85" name="Shape 83"/>
          <p:cNvSpPr/>
          <p:nvPr/>
        </p:nvSpPr>
        <p:spPr>
          <a:xfrm>
            <a:off x="9921240" y="5742432"/>
            <a:ext cx="1828800" cy="530352"/>
          </a:xfrm>
          <a:prstGeom prst="roundRect">
            <a:avLst>
              <a:gd name="adj" fmla="val 6897"/>
            </a:avLst>
          </a:prstGeom>
          <a:solidFill>
            <a:srgbClr val="3F3F3F"/>
          </a:solidFill>
          <a:ln w="12700">
            <a:solidFill>
              <a:srgbClr val="3F3F3F">
                <a:alpha val="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058400" y="5742432"/>
            <a:ext cx="7315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합계</a:t>
            </a:r>
            <a:endParaRPr lang="en-US" sz="840" dirty="0"/>
          </a:p>
        </p:txBody>
      </p:sp>
      <p:sp>
        <p:nvSpPr>
          <p:cNvPr id="87" name="Text 85"/>
          <p:cNvSpPr/>
          <p:nvPr/>
        </p:nvSpPr>
        <p:spPr>
          <a:xfrm>
            <a:off x="10744200" y="5742432"/>
            <a:ext cx="7772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230" b="1" dirty="0">
                <a:solidFill>
                  <a:srgbClr val="E8B8C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14.3 MD</a:t>
            </a:r>
            <a:endParaRPr lang="en-US" sz="12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40280" cy="685800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40280" cy="749808"/>
          </a:xfrm>
          <a:prstGeom prst="rect">
            <a:avLst/>
          </a:prstGeom>
          <a:solidFill>
            <a:srgbClr val="3F3F3F"/>
          </a:solidFill>
          <a:ln w="12700">
            <a:solidFill>
              <a:srgbClr val="3F3F3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6576" cy="749808"/>
          </a:xfrm>
          <a:prstGeom prst="rect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" y="118872"/>
            <a:ext cx="1920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LG U+  성과관리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" y="438912"/>
            <a:ext cx="19202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인수인계 일정 안내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969264"/>
            <a:ext cx="274320" cy="274320"/>
          </a:xfrm>
          <a:prstGeom prst="ellipse">
            <a:avLst/>
          </a:prstGeom>
          <a:solidFill>
            <a:srgbClr val="AFAFAF"/>
          </a:solidFill>
          <a:ln w="12700">
            <a:solidFill>
              <a:srgbClr val="AFAFA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969264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4A4A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896112"/>
            <a:ext cx="1417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개요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1170432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D0D0D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필요성·전체 흐름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310896" y="1371600"/>
            <a:ext cx="18288" cy="3657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737360"/>
            <a:ext cx="2240280" cy="713232"/>
          </a:xfrm>
          <a:prstGeom prst="rect">
            <a:avLst/>
          </a:prstGeom>
          <a:solidFill>
            <a:srgbClr val="3F3F3F"/>
          </a:solidFill>
          <a:ln w="12700">
            <a:solidFill>
              <a:srgbClr val="3F3F3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737360"/>
            <a:ext cx="36576" cy="713232"/>
          </a:xfrm>
          <a:prstGeom prst="rect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" y="1865376"/>
            <a:ext cx="347472" cy="347472"/>
          </a:xfrm>
          <a:prstGeom prst="ellipse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" y="1865376"/>
            <a:ext cx="34747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" y="1819656"/>
            <a:ext cx="1417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생성 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2121408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E8B8C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월초 ~ 11일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310896" y="2304288"/>
            <a:ext cx="18288" cy="3657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2834640"/>
            <a:ext cx="274320" cy="274320"/>
          </a:xfrm>
          <a:prstGeom prst="ellipse">
            <a:avLst/>
          </a:prstGeom>
          <a:solidFill>
            <a:srgbClr val="AFAFAF"/>
          </a:solidFill>
          <a:ln w="12700">
            <a:solidFill>
              <a:srgbClr val="AFAFA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4A4A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368" y="2761488"/>
            <a:ext cx="1417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정기 배치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3035808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D0D0D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매월 11일 자동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310896" y="3236976"/>
            <a:ext cx="18288" cy="3657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767328"/>
            <a:ext cx="274320" cy="274320"/>
          </a:xfrm>
          <a:prstGeom prst="ellipse">
            <a:avLst/>
          </a:prstGeom>
          <a:solidFill>
            <a:srgbClr val="AFAFAF"/>
          </a:solidFill>
          <a:ln w="12700">
            <a:solidFill>
              <a:srgbClr val="AFAFA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4A4A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368" y="3694176"/>
            <a:ext cx="1417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생성 후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" y="3968496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D0D0D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11일 이후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310896" y="4169664"/>
            <a:ext cx="18288" cy="3657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" y="4700016"/>
            <a:ext cx="274320" cy="274320"/>
          </a:xfrm>
          <a:prstGeom prst="ellipse">
            <a:avLst/>
          </a:prstGeom>
          <a:solidFill>
            <a:srgbClr val="AFAFAF"/>
          </a:solidFill>
          <a:ln w="12700">
            <a:solidFill>
              <a:srgbClr val="AFAFA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" y="4700016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4A4A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58368" y="4626864"/>
            <a:ext cx="1417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후속·병렬 작업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8368" y="4901184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D0D0D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확인 이후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2240280" y="0"/>
            <a:ext cx="9951415" cy="6858000"/>
          </a:xfrm>
          <a:prstGeom prst="rect">
            <a:avLst/>
          </a:prstGeom>
          <a:solidFill>
            <a:srgbClr val="F6F5F2"/>
          </a:solidFill>
          <a:ln w="12700">
            <a:solidFill>
              <a:srgbClr val="F6F5F2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40280" y="0"/>
            <a:ext cx="9951415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40280" y="713232"/>
            <a:ext cx="9951415" cy="41148"/>
          </a:xfrm>
          <a:prstGeom prst="rect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0" y="91440"/>
            <a:ext cx="9235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생성 전 - 수기테이블 생성 및 실적 조정 데이터 준비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2560320" y="475488"/>
            <a:ext cx="9235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7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월초 ~ 매월 11일 | 마스터·분류 정보 확정 + 조정 대상 실적 확인 + PL 이익률 수기테이블 생성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2441448" y="987552"/>
            <a:ext cx="9710928" cy="310896"/>
          </a:xfrm>
          <a:prstGeom prst="rect">
            <a:avLst/>
          </a:prstGeom>
          <a:solidFill>
            <a:srgbClr val="F7F3EC"/>
          </a:solidFill>
          <a:ln w="6350">
            <a:solidFill>
              <a:srgbClr val="E4E1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78024" y="987552"/>
            <a:ext cx="1344168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구분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95344" y="987552"/>
            <a:ext cx="2990088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작업 항목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58584" y="987552"/>
            <a:ext cx="39319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세부 내용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963656" y="987552"/>
            <a:ext cx="969264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소요시간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441448" y="1298448"/>
            <a:ext cx="9710928" cy="663593"/>
          </a:xfrm>
          <a:prstGeom prst="rect">
            <a:avLst/>
          </a:prstGeom>
          <a:solidFill>
            <a:srgbClr val="FFFFFF"/>
          </a:solidFill>
          <a:ln w="4445">
            <a:solidFill>
              <a:srgbClr val="E4E1D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14600" y="1399032"/>
            <a:ext cx="1234440" cy="480713"/>
          </a:xfrm>
          <a:prstGeom prst="roundRect">
            <a:avLst>
              <a:gd name="adj" fmla="val 7609"/>
            </a:avLst>
          </a:prstGeom>
          <a:solidFill>
            <a:srgbClr val="F5E8E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78608" y="1389888"/>
            <a:ext cx="1106424" cy="48071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9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KA/GA</a:t>
            </a:r>
            <a:endParaRPr lang="en-US" sz="79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9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고객 리스트</a:t>
            </a:r>
            <a:endParaRPr lang="en-US" sz="790" dirty="0"/>
          </a:p>
        </p:txBody>
      </p:sp>
      <p:sp>
        <p:nvSpPr>
          <p:cNvPr id="46" name="Text 44"/>
          <p:cNvSpPr/>
          <p:nvPr/>
        </p:nvSpPr>
        <p:spPr>
          <a:xfrm>
            <a:off x="3931920" y="1335024"/>
            <a:ext cx="2916936" cy="59044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KA/GA 고객 리스트 확정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95160" y="1335024"/>
            <a:ext cx="3858768" cy="59044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현행 KA·GA 고객 목록 검토 및 변경사항 반영</a:t>
            </a:r>
            <a:endParaRPr lang="en-US" sz="81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KAM TF 협의 기반 최종 확정</a:t>
            </a:r>
            <a:endParaRPr lang="en-US" sz="810" dirty="0"/>
          </a:p>
        </p:txBody>
      </p:sp>
      <p:sp>
        <p:nvSpPr>
          <p:cNvPr id="48" name="Shape 46"/>
          <p:cNvSpPr/>
          <p:nvPr/>
        </p:nvSpPr>
        <p:spPr>
          <a:xfrm>
            <a:off x="11082528" y="1426464"/>
            <a:ext cx="731520" cy="407561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082528" y="1426464"/>
            <a:ext cx="731520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2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0.5 MD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2441448" y="1962041"/>
            <a:ext cx="9710928" cy="663593"/>
          </a:xfrm>
          <a:prstGeom prst="rect">
            <a:avLst/>
          </a:prstGeom>
          <a:solidFill>
            <a:srgbClr val="FAFAF8"/>
          </a:solidFill>
          <a:ln w="4445">
            <a:solidFill>
              <a:srgbClr val="E4E1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31920" y="1998617"/>
            <a:ext cx="2916936" cy="59044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고객 그룹핑 정보 확정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95160" y="1998617"/>
            <a:ext cx="3858768" cy="59044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복수 법인을 단일 그룹으로 묶는 매핑 정보 검토·갱신</a:t>
            </a:r>
            <a:endParaRPr lang="en-US" sz="81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KAM TF 협의 기반 최종 확정</a:t>
            </a:r>
            <a:endParaRPr lang="en-US" sz="810" dirty="0"/>
          </a:p>
        </p:txBody>
      </p:sp>
      <p:sp>
        <p:nvSpPr>
          <p:cNvPr id="53" name="Shape 51"/>
          <p:cNvSpPr/>
          <p:nvPr/>
        </p:nvSpPr>
        <p:spPr>
          <a:xfrm>
            <a:off x="11082528" y="2090057"/>
            <a:ext cx="731520" cy="407561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082528" y="2090057"/>
            <a:ext cx="731520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2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0.5 MD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2441448" y="2625634"/>
            <a:ext cx="9710928" cy="663593"/>
          </a:xfrm>
          <a:prstGeom prst="rect">
            <a:avLst/>
          </a:prstGeom>
          <a:solidFill>
            <a:srgbClr val="FFFFFF"/>
          </a:solidFill>
          <a:ln w="4445">
            <a:solidFill>
              <a:srgbClr val="E4E1D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14600" y="2726218"/>
            <a:ext cx="1234440" cy="480713"/>
          </a:xfrm>
          <a:prstGeom prst="roundRect">
            <a:avLst>
              <a:gd name="adj" fmla="val 7609"/>
            </a:avLst>
          </a:prstGeom>
          <a:solidFill>
            <a:srgbClr val="F5E8E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78608" y="2717074"/>
            <a:ext cx="1106424" cy="48071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9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고객군</a:t>
            </a:r>
            <a:endParaRPr lang="en-US" sz="79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9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(Lv1~4)</a:t>
            </a:r>
            <a:endParaRPr lang="en-US" sz="790" dirty="0"/>
          </a:p>
        </p:txBody>
      </p:sp>
      <p:sp>
        <p:nvSpPr>
          <p:cNvPr id="58" name="Text 56"/>
          <p:cNvSpPr/>
          <p:nvPr/>
        </p:nvSpPr>
        <p:spPr>
          <a:xfrm>
            <a:off x="3931920" y="2662210"/>
            <a:ext cx="2916936" cy="59044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고객군 분류 변경사항 점검 및 반영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995160" y="2662210"/>
            <a:ext cx="3858768" cy="59044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고객별 분류 변경사항 확인 및 반영</a:t>
            </a:r>
            <a:endParaRPr lang="en-US" sz="81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공정위 대상 대기업집단 업데이트 등</a:t>
            </a:r>
            <a:endParaRPr lang="en-US" sz="810" dirty="0"/>
          </a:p>
        </p:txBody>
      </p:sp>
      <p:sp>
        <p:nvSpPr>
          <p:cNvPr id="60" name="Shape 58"/>
          <p:cNvSpPr/>
          <p:nvPr/>
        </p:nvSpPr>
        <p:spPr>
          <a:xfrm>
            <a:off x="11082528" y="2753650"/>
            <a:ext cx="731520" cy="407561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082528" y="2753650"/>
            <a:ext cx="731520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2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 MD</a:t>
            </a:r>
            <a:endParaRPr lang="en-US" sz="920" dirty="0"/>
          </a:p>
        </p:txBody>
      </p:sp>
      <p:sp>
        <p:nvSpPr>
          <p:cNvPr id="62" name="Shape 60"/>
          <p:cNvSpPr/>
          <p:nvPr/>
        </p:nvSpPr>
        <p:spPr>
          <a:xfrm>
            <a:off x="2441448" y="3289227"/>
            <a:ext cx="9710928" cy="663593"/>
          </a:xfrm>
          <a:prstGeom prst="rect">
            <a:avLst/>
          </a:prstGeom>
          <a:solidFill>
            <a:srgbClr val="FAFAF8"/>
          </a:solidFill>
          <a:ln w="4445">
            <a:solidFill>
              <a:srgbClr val="E4E1D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514600" y="3389811"/>
            <a:ext cx="1234440" cy="480713"/>
          </a:xfrm>
          <a:prstGeom prst="roundRect">
            <a:avLst>
              <a:gd name="adj" fmla="val 7609"/>
            </a:avLst>
          </a:prstGeom>
          <a:solidFill>
            <a:srgbClr val="F5E8E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78608" y="3380667"/>
            <a:ext cx="1106424" cy="48071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9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매출/이익</a:t>
            </a:r>
            <a:endParaRPr lang="en-US" sz="79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9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조정 점검</a:t>
            </a:r>
            <a:endParaRPr lang="en-US" sz="790" dirty="0"/>
          </a:p>
        </p:txBody>
      </p:sp>
      <p:sp>
        <p:nvSpPr>
          <p:cNvPr id="65" name="Text 63"/>
          <p:cNvSpPr/>
          <p:nvPr/>
        </p:nvSpPr>
        <p:spPr>
          <a:xfrm>
            <a:off x="3931920" y="3325803"/>
            <a:ext cx="2916936" cy="59044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DW 데이터 생성·적재 스케줄 점검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995160" y="3325803"/>
            <a:ext cx="3858768" cy="59044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기업DW 데이터 생성 완료 여부 확인</a:t>
            </a:r>
            <a:endParaRPr lang="en-US" sz="81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데이터레이크 적재 스케줄 이상 없음 점검</a:t>
            </a:r>
            <a:endParaRPr lang="en-US" sz="810" dirty="0"/>
          </a:p>
        </p:txBody>
      </p:sp>
      <p:sp>
        <p:nvSpPr>
          <p:cNvPr id="67" name="Shape 65"/>
          <p:cNvSpPr/>
          <p:nvPr/>
        </p:nvSpPr>
        <p:spPr>
          <a:xfrm>
            <a:off x="11082528" y="3417243"/>
            <a:ext cx="731520" cy="407561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1082528" y="3417243"/>
            <a:ext cx="731520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2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0.1 MD</a:t>
            </a:r>
            <a:endParaRPr lang="en-US" sz="920" dirty="0"/>
          </a:p>
        </p:txBody>
      </p:sp>
      <p:sp>
        <p:nvSpPr>
          <p:cNvPr id="69" name="Shape 67"/>
          <p:cNvSpPr/>
          <p:nvPr/>
        </p:nvSpPr>
        <p:spPr>
          <a:xfrm>
            <a:off x="2441448" y="3952821"/>
            <a:ext cx="9710928" cy="663593"/>
          </a:xfrm>
          <a:prstGeom prst="rect">
            <a:avLst/>
          </a:prstGeom>
          <a:solidFill>
            <a:srgbClr val="FFFFFF"/>
          </a:solidFill>
          <a:ln w="4445">
            <a:solidFill>
              <a:srgbClr val="E4E1D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31920" y="3989397"/>
            <a:ext cx="2916936" cy="59044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⑤ 주요 조정 대상 실적 확인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995160" y="3989397"/>
            <a:ext cx="3858768" cy="59044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네이버, 에스원·KGM·토요타, MVNO 등 청구/정산매출 확인</a:t>
            </a:r>
            <a:endParaRPr lang="en-US" sz="81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기업DW·파트너플러스 기준 실적 확인</a:t>
            </a:r>
            <a:endParaRPr lang="en-US" sz="810" dirty="0"/>
          </a:p>
        </p:txBody>
      </p:sp>
      <p:sp>
        <p:nvSpPr>
          <p:cNvPr id="72" name="Shape 70"/>
          <p:cNvSpPr/>
          <p:nvPr/>
        </p:nvSpPr>
        <p:spPr>
          <a:xfrm>
            <a:off x="11082528" y="4080837"/>
            <a:ext cx="731520" cy="407561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1082528" y="4080837"/>
            <a:ext cx="731520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2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0.5 MD</a:t>
            </a:r>
            <a:endParaRPr lang="en-US" sz="920" dirty="0"/>
          </a:p>
        </p:txBody>
      </p:sp>
      <p:sp>
        <p:nvSpPr>
          <p:cNvPr id="74" name="Shape 72"/>
          <p:cNvSpPr/>
          <p:nvPr/>
        </p:nvSpPr>
        <p:spPr>
          <a:xfrm>
            <a:off x="2441448" y="4616414"/>
            <a:ext cx="9710928" cy="663593"/>
          </a:xfrm>
          <a:prstGeom prst="rect">
            <a:avLst/>
          </a:prstGeom>
          <a:solidFill>
            <a:srgbClr val="FAFAF8"/>
          </a:solidFill>
          <a:ln w="4445">
            <a:solidFill>
              <a:srgbClr val="E4E1D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514600" y="4716998"/>
            <a:ext cx="1234440" cy="480713"/>
          </a:xfrm>
          <a:prstGeom prst="roundRect">
            <a:avLst>
              <a:gd name="adj" fmla="val 7609"/>
            </a:avLst>
          </a:prstGeom>
          <a:solidFill>
            <a:srgbClr val="F5E8E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578608" y="4707854"/>
            <a:ext cx="1106424" cy="48071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9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PL 이익률</a:t>
            </a:r>
            <a:endParaRPr lang="en-US" sz="79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9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수기테이블</a:t>
            </a:r>
            <a:endParaRPr lang="en-US" sz="790" dirty="0"/>
          </a:p>
        </p:txBody>
      </p:sp>
      <p:sp>
        <p:nvSpPr>
          <p:cNvPr id="77" name="Text 75"/>
          <p:cNvSpPr/>
          <p:nvPr/>
        </p:nvSpPr>
        <p:spPr>
          <a:xfrm>
            <a:off x="3931920" y="4652990"/>
            <a:ext cx="2916936" cy="59044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⑥ 부문 PL 이익률 마감 스케줄 확인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995160" y="4652990"/>
            <a:ext cx="3858768" cy="59044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기획팀 PL 자료 제공 일정 확인</a:t>
            </a:r>
            <a:endParaRPr lang="en-US" sz="81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통상 6영업일 전후</a:t>
            </a:r>
            <a:endParaRPr lang="en-US" sz="810" dirty="0"/>
          </a:p>
        </p:txBody>
      </p:sp>
      <p:sp>
        <p:nvSpPr>
          <p:cNvPr id="79" name="Shape 77"/>
          <p:cNvSpPr/>
          <p:nvPr/>
        </p:nvSpPr>
        <p:spPr>
          <a:xfrm>
            <a:off x="11082528" y="4744430"/>
            <a:ext cx="731520" cy="407561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1082528" y="4744430"/>
            <a:ext cx="731520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2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0.1 MD</a:t>
            </a:r>
            <a:endParaRPr lang="en-US" sz="920" dirty="0"/>
          </a:p>
        </p:txBody>
      </p:sp>
      <p:sp>
        <p:nvSpPr>
          <p:cNvPr id="81" name="Shape 79"/>
          <p:cNvSpPr/>
          <p:nvPr/>
        </p:nvSpPr>
        <p:spPr>
          <a:xfrm>
            <a:off x="2441448" y="5280007"/>
            <a:ext cx="9710928" cy="663593"/>
          </a:xfrm>
          <a:prstGeom prst="rect">
            <a:avLst/>
          </a:prstGeom>
          <a:solidFill>
            <a:srgbClr val="FFFFFF"/>
          </a:solidFill>
          <a:ln w="4445">
            <a:solidFill>
              <a:srgbClr val="E4E1D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931920" y="5316583"/>
            <a:ext cx="2916936" cy="59044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⑦ 7개 수기테이블 생성/검증 후 운영 업로드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995160" y="5316583"/>
            <a:ext cx="3858768" cy="59044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월별 업데이트 필요한 7개 수기테이블 생성·검증</a:t>
            </a:r>
            <a:endParaRPr lang="en-US" sz="81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데이터레이크 업로드</a:t>
            </a:r>
            <a:endParaRPr lang="en-US" sz="810" dirty="0"/>
          </a:p>
        </p:txBody>
      </p:sp>
      <p:sp>
        <p:nvSpPr>
          <p:cNvPr id="84" name="Shape 82"/>
          <p:cNvSpPr/>
          <p:nvPr/>
        </p:nvSpPr>
        <p:spPr>
          <a:xfrm>
            <a:off x="11082528" y="5408023"/>
            <a:ext cx="731520" cy="407561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1082528" y="5408023"/>
            <a:ext cx="731520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2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MD</a:t>
            </a:r>
            <a:endParaRPr lang="en-US" sz="920" dirty="0"/>
          </a:p>
        </p:txBody>
      </p:sp>
      <p:sp>
        <p:nvSpPr>
          <p:cNvPr id="86" name="Shape 84"/>
          <p:cNvSpPr/>
          <p:nvPr/>
        </p:nvSpPr>
        <p:spPr>
          <a:xfrm>
            <a:off x="2441448" y="5943600"/>
            <a:ext cx="9710928" cy="384048"/>
          </a:xfrm>
          <a:prstGeom prst="rect">
            <a:avLst/>
          </a:prstGeom>
          <a:solidFill>
            <a:srgbClr val="3F3F3F"/>
          </a:solidFill>
          <a:ln w="12700">
            <a:solidFill>
              <a:srgbClr val="3F3F3F">
                <a:alpha val="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587752" y="5943600"/>
            <a:ext cx="49377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9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소요시간 합계</a:t>
            </a:r>
            <a:endParaRPr lang="en-US" sz="890" dirty="0"/>
          </a:p>
        </p:txBody>
      </p:sp>
      <p:sp>
        <p:nvSpPr>
          <p:cNvPr id="88" name="Text 86"/>
          <p:cNvSpPr/>
          <p:nvPr/>
        </p:nvSpPr>
        <p:spPr>
          <a:xfrm>
            <a:off x="10853928" y="5943600"/>
            <a:ext cx="1115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E8B8C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4.7 MD</a:t>
            </a:r>
            <a:endParaRPr lang="en-US" sz="1150" dirty="0"/>
          </a:p>
        </p:txBody>
      </p:sp>
      <p:sp>
        <p:nvSpPr>
          <p:cNvPr id="89" name="Text 87"/>
          <p:cNvSpPr/>
          <p:nvPr/>
        </p:nvSpPr>
        <p:spPr>
          <a:xfrm>
            <a:off x="2441448" y="6528816"/>
            <a:ext cx="971092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10" dirty="0">
                <a:solidFill>
                  <a:srgbClr val="8A86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※ KAM TF 협의 일정에 따라 확정 시점 유동  ※ PL 이익률 수기테이블 소요시간은 수행 후 조정 가능</a:t>
            </a:r>
            <a:endParaRPr lang="en-US" sz="7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40280" cy="685800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40280" cy="749808"/>
          </a:xfrm>
          <a:prstGeom prst="rect">
            <a:avLst/>
          </a:prstGeom>
          <a:solidFill>
            <a:srgbClr val="3F3F3F"/>
          </a:solidFill>
          <a:ln w="12700">
            <a:solidFill>
              <a:srgbClr val="3F3F3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6576" cy="749808"/>
          </a:xfrm>
          <a:prstGeom prst="rect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" y="118872"/>
            <a:ext cx="1920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LG U+  성과관리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" y="438912"/>
            <a:ext cx="19202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인수인계 일정 안내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969264"/>
            <a:ext cx="274320" cy="274320"/>
          </a:xfrm>
          <a:prstGeom prst="ellipse">
            <a:avLst/>
          </a:prstGeom>
          <a:solidFill>
            <a:srgbClr val="AFAFAF"/>
          </a:solidFill>
          <a:ln w="12700">
            <a:solidFill>
              <a:srgbClr val="AFAFA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969264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4A4A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896112"/>
            <a:ext cx="1417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개요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1170432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D0D0D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필요성·전체 흐름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310896" y="1371600"/>
            <a:ext cx="18288" cy="3657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901952"/>
            <a:ext cx="274320" cy="274320"/>
          </a:xfrm>
          <a:prstGeom prst="ellipse">
            <a:avLst/>
          </a:prstGeom>
          <a:solidFill>
            <a:srgbClr val="AFAFAF"/>
          </a:solidFill>
          <a:ln w="12700">
            <a:solidFill>
              <a:srgbClr val="AFAFA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4A4A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58368" y="1828800"/>
            <a:ext cx="1417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생성 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2103120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D0D0D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월초 ~ 11일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310896" y="2304288"/>
            <a:ext cx="18288" cy="3657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670048"/>
            <a:ext cx="2240280" cy="713232"/>
          </a:xfrm>
          <a:prstGeom prst="rect">
            <a:avLst/>
          </a:prstGeom>
          <a:solidFill>
            <a:srgbClr val="3F3F3F"/>
          </a:solidFill>
          <a:ln w="12700">
            <a:solidFill>
              <a:srgbClr val="3F3F3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670048"/>
            <a:ext cx="36576" cy="713232"/>
          </a:xfrm>
          <a:prstGeom prst="rect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798064"/>
            <a:ext cx="347472" cy="347472"/>
          </a:xfrm>
          <a:prstGeom prst="ellipse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2798064"/>
            <a:ext cx="34747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" y="2752344"/>
            <a:ext cx="1417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정기 배치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" y="3054096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E8B8C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매월 11일 자동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310896" y="3236976"/>
            <a:ext cx="18288" cy="3657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767328"/>
            <a:ext cx="274320" cy="274320"/>
          </a:xfrm>
          <a:prstGeom prst="ellipse">
            <a:avLst/>
          </a:prstGeom>
          <a:solidFill>
            <a:srgbClr val="AFAFAF"/>
          </a:solidFill>
          <a:ln w="12700">
            <a:solidFill>
              <a:srgbClr val="AFAFA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4A4A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368" y="3694176"/>
            <a:ext cx="1417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생성 후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" y="3968496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D0D0D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11일 이후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310896" y="4169664"/>
            <a:ext cx="18288" cy="3657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" y="4700016"/>
            <a:ext cx="274320" cy="274320"/>
          </a:xfrm>
          <a:prstGeom prst="ellipse">
            <a:avLst/>
          </a:prstGeom>
          <a:solidFill>
            <a:srgbClr val="AFAFAF"/>
          </a:solidFill>
          <a:ln w="12700">
            <a:solidFill>
              <a:srgbClr val="AFAFA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" y="4700016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4A4A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58368" y="4626864"/>
            <a:ext cx="1417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후속·병렬 작업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8368" y="4901184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D0D0D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확인 이후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2240280" y="0"/>
            <a:ext cx="9951415" cy="6858000"/>
          </a:xfrm>
          <a:prstGeom prst="rect">
            <a:avLst/>
          </a:prstGeom>
          <a:solidFill>
            <a:srgbClr val="F6F5F2"/>
          </a:solidFill>
          <a:ln w="12700">
            <a:solidFill>
              <a:srgbClr val="F6F5F2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40280" y="0"/>
            <a:ext cx="9951415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40280" y="713232"/>
            <a:ext cx="9951415" cy="41148"/>
          </a:xfrm>
          <a:prstGeom prst="rect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0" y="91440"/>
            <a:ext cx="9235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정기 배치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2560320" y="475488"/>
            <a:ext cx="9235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7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매월 11일 자동 배치 | 수기데이터 완성 여부에 따라 이후 작업 흐름 분기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2560320" y="987552"/>
            <a:ext cx="91897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1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0" y="987552"/>
            <a:ext cx="45720" cy="731520"/>
          </a:xfrm>
          <a:prstGeom prst="rect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24912" y="987552"/>
            <a:ext cx="87782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3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정기 배치 개요</a:t>
            </a:r>
            <a:endParaRPr lang="en-US" sz="1130" dirty="0"/>
          </a:p>
        </p:txBody>
      </p:sp>
      <p:sp>
        <p:nvSpPr>
          <p:cNvPr id="41" name="Text 39"/>
          <p:cNvSpPr/>
          <p:nvPr/>
        </p:nvSpPr>
        <p:spPr>
          <a:xfrm>
            <a:off x="2724912" y="1316736"/>
            <a:ext cx="8823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정기 배치는 매월 11일 자동 실행됩니다. 단, 배치 전 수기데이터가 미완성인 경우에는 생성 → 시스템 반영 → 재배치 순으로 후속 처리가 필요합니다.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806440" y="1993392"/>
            <a:ext cx="2697480" cy="566928"/>
          </a:xfrm>
          <a:prstGeom prst="roundRect">
            <a:avLst>
              <a:gd name="adj" fmla="val 6452"/>
            </a:avLst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06440" y="1993392"/>
            <a:ext cx="26974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매월 11일 정기 배치 실행</a:t>
            </a:r>
            <a:endParaRPr lang="en-US" sz="1180" dirty="0"/>
          </a:p>
        </p:txBody>
      </p:sp>
      <p:sp>
        <p:nvSpPr>
          <p:cNvPr id="44" name="Shape 42"/>
          <p:cNvSpPr/>
          <p:nvPr/>
        </p:nvSpPr>
        <p:spPr>
          <a:xfrm>
            <a:off x="7141464" y="2578608"/>
            <a:ext cx="27432" cy="329184"/>
          </a:xfrm>
          <a:prstGeom prst="rect">
            <a:avLst/>
          </a:prstGeom>
          <a:solidFill>
            <a:srgbClr val="D5D1C7"/>
          </a:solidFill>
          <a:ln w="12700">
            <a:solidFill>
              <a:srgbClr val="D5D1C7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66360" y="2907792"/>
            <a:ext cx="3977640" cy="493776"/>
          </a:xfrm>
          <a:prstGeom prst="roundRect">
            <a:avLst>
              <a:gd name="adj" fmla="val 7407"/>
            </a:avLst>
          </a:prstGeom>
          <a:solidFill>
            <a:srgbClr val="F7F3EC"/>
          </a:solidFill>
          <a:ln w="6350">
            <a:solidFill>
              <a:srgbClr val="D5D1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66360" y="2907792"/>
            <a:ext cx="39776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3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배치 전 수기데이터 작업 완료 여부?</a:t>
            </a:r>
            <a:endParaRPr lang="en-US" sz="1030" dirty="0"/>
          </a:p>
        </p:txBody>
      </p:sp>
      <p:sp>
        <p:nvSpPr>
          <p:cNvPr id="47" name="Shape 45"/>
          <p:cNvSpPr/>
          <p:nvPr/>
        </p:nvSpPr>
        <p:spPr>
          <a:xfrm>
            <a:off x="3584448" y="3456432"/>
            <a:ext cx="7178040" cy="27432"/>
          </a:xfrm>
          <a:prstGeom prst="rect">
            <a:avLst/>
          </a:prstGeom>
          <a:solidFill>
            <a:srgbClr val="D5D1C7"/>
          </a:solidFill>
          <a:ln w="12700">
            <a:solidFill>
              <a:srgbClr val="D5D1C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84448" y="3456432"/>
            <a:ext cx="27432" cy="301752"/>
          </a:xfrm>
          <a:prstGeom prst="rect">
            <a:avLst/>
          </a:prstGeom>
          <a:solidFill>
            <a:srgbClr val="D5D1C7"/>
          </a:solidFill>
          <a:ln w="12700">
            <a:solidFill>
              <a:srgbClr val="D5D1C7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735056" y="3456432"/>
            <a:ext cx="27432" cy="301752"/>
          </a:xfrm>
          <a:prstGeom prst="rect">
            <a:avLst/>
          </a:prstGeom>
          <a:solidFill>
            <a:srgbClr val="D5D1C7"/>
          </a:solidFill>
          <a:ln w="12700">
            <a:solidFill>
              <a:srgbClr val="D5D1C7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18688" y="3209544"/>
            <a:ext cx="8229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B66A2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미완성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351008" y="3209544"/>
            <a:ext cx="8229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68F8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완료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560320" y="3730752"/>
            <a:ext cx="3886200" cy="1481328"/>
          </a:xfrm>
          <a:prstGeom prst="roundRect">
            <a:avLst>
              <a:gd name="adj" fmla="val 2469"/>
            </a:avLst>
          </a:prstGeom>
          <a:solidFill>
            <a:srgbClr val="FAF0E2"/>
          </a:solidFill>
          <a:ln w="6350">
            <a:solidFill>
              <a:srgbClr val="E2B98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60320" y="3730752"/>
            <a:ext cx="54864" cy="1481328"/>
          </a:xfrm>
          <a:prstGeom prst="rect">
            <a:avLst/>
          </a:prstGeom>
          <a:solidFill>
            <a:srgbClr val="B66A20"/>
          </a:solidFill>
          <a:ln w="12700">
            <a:solidFill>
              <a:srgbClr val="B66A20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0" y="3822192"/>
            <a:ext cx="35204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B66A2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수기데이터 미완성 시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761488" y="4206240"/>
            <a:ext cx="201168" cy="201168"/>
          </a:xfrm>
          <a:prstGeom prst="ellipse">
            <a:avLst/>
          </a:prstGeom>
          <a:solidFill>
            <a:srgbClr val="B66A20"/>
          </a:solidFill>
          <a:ln w="12700">
            <a:solidFill>
              <a:srgbClr val="B66A20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61488" y="4206240"/>
            <a:ext cx="20116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3063240" y="4187952"/>
            <a:ext cx="31089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4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수기데이터 생성 완료</a:t>
            </a:r>
            <a:endParaRPr lang="en-US" sz="940" dirty="0"/>
          </a:p>
        </p:txBody>
      </p:sp>
      <p:sp>
        <p:nvSpPr>
          <p:cNvPr id="58" name="Shape 56"/>
          <p:cNvSpPr/>
          <p:nvPr/>
        </p:nvSpPr>
        <p:spPr>
          <a:xfrm>
            <a:off x="2761488" y="4507992"/>
            <a:ext cx="201168" cy="201168"/>
          </a:xfrm>
          <a:prstGeom prst="ellipse">
            <a:avLst/>
          </a:prstGeom>
          <a:solidFill>
            <a:srgbClr val="B66A20"/>
          </a:solidFill>
          <a:ln w="12700">
            <a:solidFill>
              <a:srgbClr val="B66A20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61488" y="4507992"/>
            <a:ext cx="20116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3063240" y="4489704"/>
            <a:ext cx="31089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4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시스템 반영</a:t>
            </a:r>
            <a:endParaRPr lang="en-US" sz="940" dirty="0"/>
          </a:p>
        </p:txBody>
      </p:sp>
      <p:sp>
        <p:nvSpPr>
          <p:cNvPr id="61" name="Shape 59"/>
          <p:cNvSpPr/>
          <p:nvPr/>
        </p:nvSpPr>
        <p:spPr>
          <a:xfrm>
            <a:off x="2761488" y="4809744"/>
            <a:ext cx="201168" cy="201168"/>
          </a:xfrm>
          <a:prstGeom prst="ellipse">
            <a:avLst/>
          </a:prstGeom>
          <a:solidFill>
            <a:srgbClr val="B66A20"/>
          </a:solidFill>
          <a:ln w="12700">
            <a:solidFill>
              <a:srgbClr val="B66A20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61488" y="4809744"/>
            <a:ext cx="20116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3063240" y="4791456"/>
            <a:ext cx="31089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4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재배치 실행</a:t>
            </a:r>
            <a:endParaRPr lang="en-US" sz="940" dirty="0"/>
          </a:p>
        </p:txBody>
      </p:sp>
      <p:sp>
        <p:nvSpPr>
          <p:cNvPr id="64" name="Text 62"/>
          <p:cNvSpPr/>
          <p:nvPr/>
        </p:nvSpPr>
        <p:spPr>
          <a:xfrm>
            <a:off x="2743200" y="4919472"/>
            <a:ext cx="3429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8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재배치 완료 후 → 데이터 생성 후 작업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8275320" y="3730752"/>
            <a:ext cx="3794760" cy="1481328"/>
          </a:xfrm>
          <a:prstGeom prst="roundRect">
            <a:avLst>
              <a:gd name="adj" fmla="val 2469"/>
            </a:avLst>
          </a:prstGeom>
          <a:solidFill>
            <a:srgbClr val="E7F3F1"/>
          </a:solidFill>
          <a:ln w="6350">
            <a:solidFill>
              <a:srgbClr val="A8D9D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75320" y="3730752"/>
            <a:ext cx="54864" cy="1481328"/>
          </a:xfrm>
          <a:prstGeom prst="rect">
            <a:avLst/>
          </a:prstGeom>
          <a:solidFill>
            <a:srgbClr val="168F83"/>
          </a:solidFill>
          <a:ln w="12700">
            <a:solidFill>
              <a:srgbClr val="168F83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458200" y="3822192"/>
            <a:ext cx="3429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68F8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정상 배치 완료 시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458200" y="4187952"/>
            <a:ext cx="3154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생성 이후 작업으로 바로 이동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458200" y="4791456"/>
            <a:ext cx="3154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9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데이터 생성 후 작업</a:t>
            </a:r>
            <a:endParaRPr lang="en-US" sz="890" dirty="0"/>
          </a:p>
        </p:txBody>
      </p:sp>
      <p:sp>
        <p:nvSpPr>
          <p:cNvPr id="70" name="Shape 68"/>
          <p:cNvSpPr/>
          <p:nvPr/>
        </p:nvSpPr>
        <p:spPr>
          <a:xfrm>
            <a:off x="2560320" y="5742432"/>
            <a:ext cx="9189720" cy="4572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 w="12700">
            <a:solidFill>
              <a:srgbClr val="3F3F3F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24912" y="5742432"/>
            <a:ext cx="4389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정기 배치 대응 기준 소요시간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0652760" y="5742432"/>
            <a:ext cx="822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E8B8C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MD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40280" cy="685800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40280" cy="749808"/>
          </a:xfrm>
          <a:prstGeom prst="rect">
            <a:avLst/>
          </a:prstGeom>
          <a:solidFill>
            <a:srgbClr val="3F3F3F"/>
          </a:solidFill>
          <a:ln w="12700">
            <a:solidFill>
              <a:srgbClr val="3F3F3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6576" cy="749808"/>
          </a:xfrm>
          <a:prstGeom prst="rect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" y="118872"/>
            <a:ext cx="1920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LG U+  성과관리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" y="438912"/>
            <a:ext cx="19202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인수인계 일정 안내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969264"/>
            <a:ext cx="274320" cy="274320"/>
          </a:xfrm>
          <a:prstGeom prst="ellipse">
            <a:avLst/>
          </a:prstGeom>
          <a:solidFill>
            <a:srgbClr val="AFAFAF"/>
          </a:solidFill>
          <a:ln w="12700">
            <a:solidFill>
              <a:srgbClr val="AFAFA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969264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4A4A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896112"/>
            <a:ext cx="1417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개요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1170432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D0D0D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필요성·전체 흐름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310896" y="1371600"/>
            <a:ext cx="18288" cy="3657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901952"/>
            <a:ext cx="274320" cy="274320"/>
          </a:xfrm>
          <a:prstGeom prst="ellipse">
            <a:avLst/>
          </a:prstGeom>
          <a:solidFill>
            <a:srgbClr val="AFAFAF"/>
          </a:solidFill>
          <a:ln w="12700">
            <a:solidFill>
              <a:srgbClr val="AFAFA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4A4A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58368" y="1828800"/>
            <a:ext cx="1417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생성 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2103120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D0D0D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월초 ~ 11일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310896" y="2304288"/>
            <a:ext cx="18288" cy="3657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" y="2834640"/>
            <a:ext cx="274320" cy="274320"/>
          </a:xfrm>
          <a:prstGeom prst="ellipse">
            <a:avLst/>
          </a:prstGeom>
          <a:solidFill>
            <a:srgbClr val="AFAFAF"/>
          </a:solidFill>
          <a:ln w="12700">
            <a:solidFill>
              <a:srgbClr val="AFAFA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4A4A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2761488"/>
            <a:ext cx="1417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정기 배치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" y="3035808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D0D0D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매월 11일 자동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310896" y="3236976"/>
            <a:ext cx="18288" cy="3657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02736"/>
            <a:ext cx="2240280" cy="713232"/>
          </a:xfrm>
          <a:prstGeom prst="rect">
            <a:avLst/>
          </a:prstGeom>
          <a:solidFill>
            <a:srgbClr val="3F3F3F"/>
          </a:solidFill>
          <a:ln w="12700">
            <a:solidFill>
              <a:srgbClr val="3F3F3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602736"/>
            <a:ext cx="36576" cy="713232"/>
          </a:xfrm>
          <a:prstGeom prst="rect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3730752"/>
            <a:ext cx="347472" cy="347472"/>
          </a:xfrm>
          <a:prstGeom prst="ellipse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8368" y="3685032"/>
            <a:ext cx="1417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생성 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" y="3986784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E8B8C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11일 이후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310896" y="4169664"/>
            <a:ext cx="18288" cy="3657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" y="4700016"/>
            <a:ext cx="274320" cy="274320"/>
          </a:xfrm>
          <a:prstGeom prst="ellipse">
            <a:avLst/>
          </a:prstGeom>
          <a:solidFill>
            <a:srgbClr val="AFAFAF"/>
          </a:solidFill>
          <a:ln w="12700">
            <a:solidFill>
              <a:srgbClr val="AFAFA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" y="4700016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4A4A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58368" y="4626864"/>
            <a:ext cx="1417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후속·병렬 작업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8368" y="4901184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D0D0D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확인 이후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2240280" y="0"/>
            <a:ext cx="9951415" cy="6858000"/>
          </a:xfrm>
          <a:prstGeom prst="rect">
            <a:avLst/>
          </a:prstGeom>
          <a:solidFill>
            <a:srgbClr val="F6F5F2"/>
          </a:solidFill>
          <a:ln w="12700">
            <a:solidFill>
              <a:srgbClr val="F6F5F2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40280" y="0"/>
            <a:ext cx="9951415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40280" y="713232"/>
            <a:ext cx="9951415" cy="41148"/>
          </a:xfrm>
          <a:prstGeom prst="rect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0" y="91440"/>
            <a:ext cx="9235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생성 후 - 성과지표 추출·점검·리뷰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2560320" y="475488"/>
            <a:ext cx="9235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7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매월 11일 이후 | KA 고객 성과지표 추출 → 점검 → 조정 → 리뷰 → 최종 확인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2441448" y="987552"/>
            <a:ext cx="9710928" cy="310896"/>
          </a:xfrm>
          <a:prstGeom prst="rect">
            <a:avLst/>
          </a:prstGeom>
          <a:solidFill>
            <a:srgbClr val="F7F3EC"/>
          </a:solidFill>
          <a:ln w="6350">
            <a:solidFill>
              <a:srgbClr val="E4E1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78024" y="987552"/>
            <a:ext cx="1344168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구분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95344" y="987552"/>
            <a:ext cx="2990088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작업 항목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58584" y="987552"/>
            <a:ext cx="39319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세부 내용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963656" y="987552"/>
            <a:ext cx="969264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소요시간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441448" y="1298448"/>
            <a:ext cx="9710928" cy="516128"/>
          </a:xfrm>
          <a:prstGeom prst="rect">
            <a:avLst/>
          </a:prstGeom>
          <a:solidFill>
            <a:srgbClr val="FFFFFF"/>
          </a:solidFill>
          <a:ln w="4445">
            <a:solidFill>
              <a:srgbClr val="E4E1D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14600" y="1399032"/>
            <a:ext cx="1234440" cy="333248"/>
          </a:xfrm>
          <a:prstGeom prst="roundRect">
            <a:avLst>
              <a:gd name="adj" fmla="val 10976"/>
            </a:avLst>
          </a:prstGeom>
          <a:solidFill>
            <a:srgbClr val="F5E8E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78608" y="1389888"/>
            <a:ext cx="1106424" cy="333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9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성과지표</a:t>
            </a:r>
            <a:endParaRPr lang="en-US" sz="79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9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추출·점검</a:t>
            </a:r>
            <a:endParaRPr lang="en-US" sz="790" dirty="0"/>
          </a:p>
        </p:txBody>
      </p:sp>
      <p:sp>
        <p:nvSpPr>
          <p:cNvPr id="46" name="Text 44"/>
          <p:cNvSpPr/>
          <p:nvPr/>
        </p:nvSpPr>
        <p:spPr>
          <a:xfrm>
            <a:off x="3931920" y="1335024"/>
            <a:ext cx="2916936" cy="442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KA 고객 성과지표 추출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95160" y="1335024"/>
            <a:ext cx="3858768" cy="442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KA 고객 중심으로 매출/이익률 성과지표 추출</a:t>
            </a:r>
            <a:endParaRPr lang="en-US" sz="810" dirty="0"/>
          </a:p>
        </p:txBody>
      </p:sp>
      <p:sp>
        <p:nvSpPr>
          <p:cNvPr id="48" name="Shape 46"/>
          <p:cNvSpPr/>
          <p:nvPr/>
        </p:nvSpPr>
        <p:spPr>
          <a:xfrm>
            <a:off x="11082528" y="1426464"/>
            <a:ext cx="731520" cy="26009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082528" y="1426464"/>
            <a:ext cx="731520" cy="260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2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0.2 MD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2441448" y="1814576"/>
            <a:ext cx="9710928" cy="516128"/>
          </a:xfrm>
          <a:prstGeom prst="rect">
            <a:avLst/>
          </a:prstGeom>
          <a:solidFill>
            <a:srgbClr val="FAFAF8"/>
          </a:solidFill>
          <a:ln w="4445">
            <a:solidFill>
              <a:srgbClr val="E4E1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31920" y="1851152"/>
            <a:ext cx="2916936" cy="442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성과지표 이상여부 체크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95160" y="1851152"/>
            <a:ext cx="3858768" cy="442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53개 고객별*손익별 매출과 이익 산출 결과 점검 후</a:t>
            </a:r>
            <a:endParaRPr lang="en-US" sz="81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초기 이상여부와 예외처리 항목 도출</a:t>
            </a:r>
            <a:endParaRPr lang="en-US" sz="810" dirty="0"/>
          </a:p>
        </p:txBody>
      </p:sp>
      <p:sp>
        <p:nvSpPr>
          <p:cNvPr id="53" name="Shape 51"/>
          <p:cNvSpPr/>
          <p:nvPr/>
        </p:nvSpPr>
        <p:spPr>
          <a:xfrm>
            <a:off x="11082528" y="1942592"/>
            <a:ext cx="731520" cy="26009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082528" y="1942592"/>
            <a:ext cx="731520" cy="260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2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MD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2441448" y="2330704"/>
            <a:ext cx="9710928" cy="516128"/>
          </a:xfrm>
          <a:prstGeom prst="rect">
            <a:avLst/>
          </a:prstGeom>
          <a:solidFill>
            <a:srgbClr val="FFFFFF"/>
          </a:solidFill>
          <a:ln w="4445">
            <a:solidFill>
              <a:srgbClr val="E4E1D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31920" y="2367280"/>
            <a:ext cx="2916936" cy="442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조정 작업 수행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995160" y="2367280"/>
            <a:ext cx="3858768" cy="442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초기 이상여부·예외처리 조정 작업 수행</a:t>
            </a:r>
            <a:endParaRPr lang="en-US" sz="810" dirty="0"/>
          </a:p>
        </p:txBody>
      </p:sp>
      <p:sp>
        <p:nvSpPr>
          <p:cNvPr id="58" name="Shape 56"/>
          <p:cNvSpPr/>
          <p:nvPr/>
        </p:nvSpPr>
        <p:spPr>
          <a:xfrm>
            <a:off x="11082528" y="2458720"/>
            <a:ext cx="731520" cy="26009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082528" y="2458720"/>
            <a:ext cx="731520" cy="260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2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0.5 MD</a:t>
            </a:r>
            <a:endParaRPr lang="en-US" sz="920" dirty="0"/>
          </a:p>
        </p:txBody>
      </p:sp>
      <p:sp>
        <p:nvSpPr>
          <p:cNvPr id="60" name="Shape 58"/>
          <p:cNvSpPr/>
          <p:nvPr/>
        </p:nvSpPr>
        <p:spPr>
          <a:xfrm>
            <a:off x="2441448" y="2846832"/>
            <a:ext cx="9710928" cy="516128"/>
          </a:xfrm>
          <a:prstGeom prst="rect">
            <a:avLst/>
          </a:prstGeom>
          <a:solidFill>
            <a:srgbClr val="FAFAF8"/>
          </a:solidFill>
          <a:ln w="4445">
            <a:solidFill>
              <a:srgbClr val="E4E1D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931920" y="2883408"/>
            <a:ext cx="2916936" cy="442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성과지표 재추출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995160" y="2883408"/>
            <a:ext cx="3858768" cy="442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조정 작업 반영 후 성과지표 재추출</a:t>
            </a:r>
            <a:endParaRPr lang="en-US" sz="810" dirty="0"/>
          </a:p>
        </p:txBody>
      </p:sp>
      <p:sp>
        <p:nvSpPr>
          <p:cNvPr id="63" name="Shape 61"/>
          <p:cNvSpPr/>
          <p:nvPr/>
        </p:nvSpPr>
        <p:spPr>
          <a:xfrm>
            <a:off x="11082528" y="2974848"/>
            <a:ext cx="731520" cy="26009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082528" y="2974848"/>
            <a:ext cx="731520" cy="260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2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0.2 MD</a:t>
            </a:r>
            <a:endParaRPr lang="en-US" sz="920" dirty="0"/>
          </a:p>
        </p:txBody>
      </p:sp>
      <p:sp>
        <p:nvSpPr>
          <p:cNvPr id="65" name="Shape 63"/>
          <p:cNvSpPr/>
          <p:nvPr/>
        </p:nvSpPr>
        <p:spPr>
          <a:xfrm>
            <a:off x="2441448" y="3362960"/>
            <a:ext cx="9710928" cy="516128"/>
          </a:xfrm>
          <a:prstGeom prst="rect">
            <a:avLst/>
          </a:prstGeom>
          <a:solidFill>
            <a:srgbClr val="FFFFFF"/>
          </a:solidFill>
          <a:ln w="4445">
            <a:solidFill>
              <a:srgbClr val="E4E1D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931920" y="3399536"/>
            <a:ext cx="2916936" cy="442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⑤ KA 고객 성과지표 공유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995160" y="3399536"/>
            <a:ext cx="3858768" cy="442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KAM TF 및 담당 내 공유</a:t>
            </a:r>
            <a:endParaRPr lang="en-US" sz="810" dirty="0"/>
          </a:p>
        </p:txBody>
      </p:sp>
      <p:sp>
        <p:nvSpPr>
          <p:cNvPr id="68" name="Shape 66"/>
          <p:cNvSpPr/>
          <p:nvPr/>
        </p:nvSpPr>
        <p:spPr>
          <a:xfrm>
            <a:off x="11082528" y="3490976"/>
            <a:ext cx="731520" cy="26009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1082528" y="3490976"/>
            <a:ext cx="731520" cy="260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2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0.1 MD</a:t>
            </a:r>
            <a:endParaRPr lang="en-US" sz="920" dirty="0"/>
          </a:p>
        </p:txBody>
      </p:sp>
      <p:sp>
        <p:nvSpPr>
          <p:cNvPr id="70" name="Shape 68"/>
          <p:cNvSpPr/>
          <p:nvPr/>
        </p:nvSpPr>
        <p:spPr>
          <a:xfrm>
            <a:off x="2441448" y="3879088"/>
            <a:ext cx="9710928" cy="516128"/>
          </a:xfrm>
          <a:prstGeom prst="rect">
            <a:avLst/>
          </a:prstGeom>
          <a:solidFill>
            <a:srgbClr val="FAFAF8"/>
          </a:solidFill>
          <a:ln w="4445">
            <a:solidFill>
              <a:srgbClr val="E4E1D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514600" y="3979672"/>
            <a:ext cx="1234440" cy="333248"/>
          </a:xfrm>
          <a:prstGeom prst="roundRect">
            <a:avLst>
              <a:gd name="adj" fmla="val 10976"/>
            </a:avLst>
          </a:prstGeom>
          <a:solidFill>
            <a:srgbClr val="F5E8E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578608" y="3970528"/>
            <a:ext cx="1106424" cy="333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9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리뷰</a:t>
            </a:r>
            <a:endParaRPr lang="en-US" sz="790" dirty="0"/>
          </a:p>
        </p:txBody>
      </p:sp>
      <p:sp>
        <p:nvSpPr>
          <p:cNvPr id="73" name="Text 71"/>
          <p:cNvSpPr/>
          <p:nvPr/>
        </p:nvSpPr>
        <p:spPr>
          <a:xfrm>
            <a:off x="3931920" y="3915664"/>
            <a:ext cx="2916936" cy="442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⑥ KAM TF 성과지표 리뷰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995160" y="3915664"/>
            <a:ext cx="3858768" cy="442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KAM TF와 KA 성과지표 리뷰</a:t>
            </a:r>
            <a:endParaRPr lang="en-US" sz="810" dirty="0"/>
          </a:p>
        </p:txBody>
      </p:sp>
      <p:sp>
        <p:nvSpPr>
          <p:cNvPr id="75" name="Shape 73"/>
          <p:cNvSpPr/>
          <p:nvPr/>
        </p:nvSpPr>
        <p:spPr>
          <a:xfrm>
            <a:off x="11082528" y="4007104"/>
            <a:ext cx="731520" cy="26009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1082528" y="4007104"/>
            <a:ext cx="731520" cy="260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2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 MD</a:t>
            </a:r>
            <a:endParaRPr lang="en-US" sz="920" dirty="0"/>
          </a:p>
        </p:txBody>
      </p:sp>
      <p:sp>
        <p:nvSpPr>
          <p:cNvPr id="77" name="Shape 75"/>
          <p:cNvSpPr/>
          <p:nvPr/>
        </p:nvSpPr>
        <p:spPr>
          <a:xfrm>
            <a:off x="2441448" y="4395216"/>
            <a:ext cx="9710928" cy="516128"/>
          </a:xfrm>
          <a:prstGeom prst="rect">
            <a:avLst/>
          </a:prstGeom>
          <a:solidFill>
            <a:srgbClr val="FFFFFF"/>
          </a:solidFill>
          <a:ln w="4445">
            <a:solidFill>
              <a:srgbClr val="E4E1D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931920" y="4431792"/>
            <a:ext cx="2916936" cy="442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⑦ 기획담당 성과지표 리뷰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995160" y="4431792"/>
            <a:ext cx="3858768" cy="442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기획담당 KA 성과지표 리뷰</a:t>
            </a:r>
            <a:endParaRPr lang="en-US" sz="810" dirty="0"/>
          </a:p>
        </p:txBody>
      </p:sp>
      <p:sp>
        <p:nvSpPr>
          <p:cNvPr id="80" name="Shape 78"/>
          <p:cNvSpPr/>
          <p:nvPr/>
        </p:nvSpPr>
        <p:spPr>
          <a:xfrm>
            <a:off x="11082528" y="4523232"/>
            <a:ext cx="731520" cy="26009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1082528" y="4523232"/>
            <a:ext cx="731520" cy="260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2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 MD</a:t>
            </a:r>
            <a:endParaRPr lang="en-US" sz="920" dirty="0"/>
          </a:p>
        </p:txBody>
      </p:sp>
      <p:sp>
        <p:nvSpPr>
          <p:cNvPr id="82" name="Shape 80"/>
          <p:cNvSpPr/>
          <p:nvPr/>
        </p:nvSpPr>
        <p:spPr>
          <a:xfrm>
            <a:off x="2441448" y="4911344"/>
            <a:ext cx="9710928" cy="516128"/>
          </a:xfrm>
          <a:prstGeom prst="rect">
            <a:avLst/>
          </a:prstGeom>
          <a:solidFill>
            <a:srgbClr val="FAFAF8"/>
          </a:solidFill>
          <a:ln w="4445">
            <a:solidFill>
              <a:srgbClr val="E4E1D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931920" y="4947920"/>
            <a:ext cx="2916936" cy="442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⑧ 조정 사항 반영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995160" y="4947920"/>
            <a:ext cx="3858768" cy="442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리뷰 결과에 따른 조정 사항 반영</a:t>
            </a:r>
            <a:endParaRPr lang="en-US" sz="810" dirty="0"/>
          </a:p>
        </p:txBody>
      </p:sp>
      <p:sp>
        <p:nvSpPr>
          <p:cNvPr id="85" name="Shape 83"/>
          <p:cNvSpPr/>
          <p:nvPr/>
        </p:nvSpPr>
        <p:spPr>
          <a:xfrm>
            <a:off x="11082528" y="5039360"/>
            <a:ext cx="731520" cy="26009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082528" y="5039360"/>
            <a:ext cx="731520" cy="260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2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0.5 MD</a:t>
            </a:r>
            <a:endParaRPr lang="en-US" sz="920" dirty="0"/>
          </a:p>
        </p:txBody>
      </p:sp>
      <p:sp>
        <p:nvSpPr>
          <p:cNvPr id="87" name="Shape 85"/>
          <p:cNvSpPr/>
          <p:nvPr/>
        </p:nvSpPr>
        <p:spPr>
          <a:xfrm>
            <a:off x="2441448" y="5427472"/>
            <a:ext cx="9710928" cy="516128"/>
          </a:xfrm>
          <a:prstGeom prst="rect">
            <a:avLst/>
          </a:prstGeom>
          <a:solidFill>
            <a:srgbClr val="FFFFFF"/>
          </a:solidFill>
          <a:ln w="4445">
            <a:solidFill>
              <a:srgbClr val="E4E1D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931920" y="5464048"/>
            <a:ext cx="2916936" cy="442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⑨ 최종 조정결과 확인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995160" y="5464048"/>
            <a:ext cx="3858768" cy="442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1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리뷰 반영 후 최종 산출 결과 확인 및 이상 없음 검증</a:t>
            </a:r>
            <a:endParaRPr lang="en-US" sz="810" dirty="0"/>
          </a:p>
        </p:txBody>
      </p:sp>
      <p:sp>
        <p:nvSpPr>
          <p:cNvPr id="90" name="Shape 88"/>
          <p:cNvSpPr/>
          <p:nvPr/>
        </p:nvSpPr>
        <p:spPr>
          <a:xfrm>
            <a:off x="11082528" y="5555488"/>
            <a:ext cx="731520" cy="26009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1082528" y="5555488"/>
            <a:ext cx="731520" cy="260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2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0.1 MD</a:t>
            </a:r>
            <a:endParaRPr lang="en-US" sz="920" dirty="0"/>
          </a:p>
        </p:txBody>
      </p:sp>
      <p:sp>
        <p:nvSpPr>
          <p:cNvPr id="92" name="Shape 90"/>
          <p:cNvSpPr/>
          <p:nvPr/>
        </p:nvSpPr>
        <p:spPr>
          <a:xfrm>
            <a:off x="2441448" y="5943600"/>
            <a:ext cx="9710928" cy="384048"/>
          </a:xfrm>
          <a:prstGeom prst="rect">
            <a:avLst/>
          </a:prstGeom>
          <a:solidFill>
            <a:srgbClr val="3F3F3F"/>
          </a:solidFill>
          <a:ln w="12700">
            <a:solidFill>
              <a:srgbClr val="3F3F3F">
                <a:alpha val="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587752" y="5943600"/>
            <a:ext cx="49377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9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소요시간 합계</a:t>
            </a:r>
            <a:endParaRPr lang="en-US" sz="890" dirty="0"/>
          </a:p>
        </p:txBody>
      </p:sp>
      <p:sp>
        <p:nvSpPr>
          <p:cNvPr id="94" name="Text 92"/>
          <p:cNvSpPr/>
          <p:nvPr/>
        </p:nvSpPr>
        <p:spPr>
          <a:xfrm>
            <a:off x="10853928" y="5943600"/>
            <a:ext cx="1115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E8B8C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5.6 MD</a:t>
            </a:r>
            <a:endParaRPr lang="en-US" sz="1150" dirty="0"/>
          </a:p>
        </p:txBody>
      </p:sp>
      <p:sp>
        <p:nvSpPr>
          <p:cNvPr id="95" name="Text 93"/>
          <p:cNvSpPr/>
          <p:nvPr/>
        </p:nvSpPr>
        <p:spPr>
          <a:xfrm>
            <a:off x="2441448" y="6528816"/>
            <a:ext cx="971092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10" dirty="0">
                <a:solidFill>
                  <a:srgbClr val="8A86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※ ⑨ 최종 조정결과 확인 이후 병렬 수행 항목은 다음 슬라이드에 분리</a:t>
            </a:r>
            <a:endParaRPr lang="en-US" sz="7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40280" cy="685800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40280" cy="749808"/>
          </a:xfrm>
          <a:prstGeom prst="rect">
            <a:avLst/>
          </a:prstGeom>
          <a:solidFill>
            <a:srgbClr val="3F3F3F"/>
          </a:solidFill>
          <a:ln w="12700">
            <a:solidFill>
              <a:srgbClr val="3F3F3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6576" cy="749808"/>
          </a:xfrm>
          <a:prstGeom prst="rect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" y="118872"/>
            <a:ext cx="1920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LG U+  성과관리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" y="438912"/>
            <a:ext cx="19202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인수인계 일정 안내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969264"/>
            <a:ext cx="274320" cy="274320"/>
          </a:xfrm>
          <a:prstGeom prst="ellipse">
            <a:avLst/>
          </a:prstGeom>
          <a:solidFill>
            <a:srgbClr val="AFAFAF"/>
          </a:solidFill>
          <a:ln w="12700">
            <a:solidFill>
              <a:srgbClr val="AFAFA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969264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4A4A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896112"/>
            <a:ext cx="1417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개요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1170432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D0D0D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필요성·전체 흐름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310896" y="1371600"/>
            <a:ext cx="18288" cy="3657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901952"/>
            <a:ext cx="274320" cy="274320"/>
          </a:xfrm>
          <a:prstGeom prst="ellipse">
            <a:avLst/>
          </a:prstGeom>
          <a:solidFill>
            <a:srgbClr val="AFAFAF"/>
          </a:solidFill>
          <a:ln w="12700">
            <a:solidFill>
              <a:srgbClr val="AFAFA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4A4A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58368" y="1828800"/>
            <a:ext cx="1417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생성 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2103120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D0D0D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월초 ~ 11일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310896" y="2304288"/>
            <a:ext cx="18288" cy="3657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" y="2834640"/>
            <a:ext cx="274320" cy="274320"/>
          </a:xfrm>
          <a:prstGeom prst="ellipse">
            <a:avLst/>
          </a:prstGeom>
          <a:solidFill>
            <a:srgbClr val="AFAFAF"/>
          </a:solidFill>
          <a:ln w="12700">
            <a:solidFill>
              <a:srgbClr val="AFAFA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4A4A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2761488"/>
            <a:ext cx="1417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정기 배치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" y="3035808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D0D0D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매월 11일 자동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310896" y="3236976"/>
            <a:ext cx="18288" cy="3657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" y="3767328"/>
            <a:ext cx="274320" cy="274320"/>
          </a:xfrm>
          <a:prstGeom prst="ellipse">
            <a:avLst/>
          </a:prstGeom>
          <a:solidFill>
            <a:srgbClr val="AFAFAF"/>
          </a:solidFill>
          <a:ln w="12700">
            <a:solidFill>
              <a:srgbClr val="AFAFA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4A4A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58368" y="3694176"/>
            <a:ext cx="1417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E7E7E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생성 후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" y="3968496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D0D0D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11일 이후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310896" y="4169664"/>
            <a:ext cx="18288" cy="3657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535424"/>
            <a:ext cx="2240280" cy="713232"/>
          </a:xfrm>
          <a:prstGeom prst="rect">
            <a:avLst/>
          </a:prstGeom>
          <a:solidFill>
            <a:srgbClr val="3F3F3F"/>
          </a:solidFill>
          <a:ln w="12700">
            <a:solidFill>
              <a:srgbClr val="3F3F3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535424"/>
            <a:ext cx="36576" cy="713232"/>
          </a:xfrm>
          <a:prstGeom prst="rect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4592" y="4663440"/>
            <a:ext cx="347472" cy="347472"/>
          </a:xfrm>
          <a:prstGeom prst="ellipse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4663440"/>
            <a:ext cx="34747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8368" y="4617720"/>
            <a:ext cx="1417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후속·병렬 작업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" y="4919472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E8B8C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확인 이후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2240280" y="0"/>
            <a:ext cx="9951415" cy="6858000"/>
          </a:xfrm>
          <a:prstGeom prst="rect">
            <a:avLst/>
          </a:prstGeom>
          <a:solidFill>
            <a:srgbClr val="F6F5F2"/>
          </a:solidFill>
          <a:ln w="12700">
            <a:solidFill>
              <a:srgbClr val="F6F5F2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40280" y="0"/>
            <a:ext cx="9951415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40280" y="713232"/>
            <a:ext cx="9951415" cy="41148"/>
          </a:xfrm>
          <a:prstGeom prst="rect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0" y="91440"/>
            <a:ext cx="9235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후속·병렬 작업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2560320" y="475488"/>
            <a:ext cx="9235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7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조정결과 확인 이후 | 리뷰 양식 작성과 적재 확인은 병렬 수행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2560320" y="1133856"/>
            <a:ext cx="8732520" cy="27432"/>
          </a:xfrm>
          <a:prstGeom prst="rect">
            <a:avLst/>
          </a:prstGeom>
          <a:solidFill>
            <a:srgbClr val="D5D1C7"/>
          </a:solidFill>
          <a:ln w="12700">
            <a:solidFill>
              <a:srgbClr val="D5D1C7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42032" y="1033272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5D1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42032" y="1033272"/>
            <a:ext cx="228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8A86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816352" y="987552"/>
            <a:ext cx="1280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월초~11일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816352" y="1179576"/>
            <a:ext cx="1645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수기테이블·마스터 정리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4888992" y="1033272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5D1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88992" y="1033272"/>
            <a:ext cx="228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8A86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163312" y="987552"/>
            <a:ext cx="1280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11일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163312" y="1179576"/>
            <a:ext cx="1645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정기 배치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7235952" y="1033272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5D1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35952" y="1033272"/>
            <a:ext cx="228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8A86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510272" y="987552"/>
            <a:ext cx="1280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11일 이후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510272" y="1179576"/>
            <a:ext cx="1645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성과지표 점검·리뷰</a:t>
            </a:r>
            <a:endParaRPr lang="en-US" sz="740" dirty="0"/>
          </a:p>
        </p:txBody>
      </p:sp>
      <p:sp>
        <p:nvSpPr>
          <p:cNvPr id="51" name="Shape 49"/>
          <p:cNvSpPr/>
          <p:nvPr/>
        </p:nvSpPr>
        <p:spPr>
          <a:xfrm>
            <a:off x="9582912" y="1033272"/>
            <a:ext cx="228600" cy="228600"/>
          </a:xfrm>
          <a:prstGeom prst="ellipse">
            <a:avLst/>
          </a:prstGeom>
          <a:solidFill>
            <a:srgbClr val="A43D72"/>
          </a:solidFill>
          <a:ln w="12700">
            <a:solidFill>
              <a:srgbClr val="A43D7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582912" y="1033272"/>
            <a:ext cx="228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9857232" y="987552"/>
            <a:ext cx="1280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필요 시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857232" y="1179576"/>
            <a:ext cx="1645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후속/병렬 작업</a:t>
            </a:r>
            <a:endParaRPr lang="en-US" sz="740" dirty="0"/>
          </a:p>
        </p:txBody>
      </p:sp>
      <p:sp>
        <p:nvSpPr>
          <p:cNvPr id="55" name="Shape 53"/>
          <p:cNvSpPr/>
          <p:nvPr/>
        </p:nvSpPr>
        <p:spPr>
          <a:xfrm>
            <a:off x="2560320" y="1517904"/>
            <a:ext cx="91897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4E1D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60320" y="1517904"/>
            <a:ext cx="45720" cy="914400"/>
          </a:xfrm>
          <a:prstGeom prst="rect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24912" y="1517904"/>
            <a:ext cx="128016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3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기준</a:t>
            </a:r>
            <a:endParaRPr lang="en-US" sz="1130" dirty="0"/>
          </a:p>
        </p:txBody>
      </p:sp>
      <p:sp>
        <p:nvSpPr>
          <p:cNvPr id="58" name="Text 56"/>
          <p:cNvSpPr/>
          <p:nvPr/>
        </p:nvSpPr>
        <p:spPr>
          <a:xfrm>
            <a:off x="3785616" y="1636776"/>
            <a:ext cx="77266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⑨ 최종 조정결과 확인 이후에는 산출물 문서화와 데이터 적재 확인을 병렬로 진행합니다. 두 작업은 일정상 중복 수행되므로 전체 합산 시 중복 산정에 유의합니다.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560320" y="2779776"/>
            <a:ext cx="4434840" cy="1572768"/>
          </a:xfrm>
          <a:prstGeom prst="roundRect">
            <a:avLst>
              <a:gd name="adj" fmla="val 2326"/>
            </a:avLst>
          </a:prstGeom>
          <a:solidFill>
            <a:srgbClr val="F5E8E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788920" y="3008376"/>
            <a:ext cx="411480" cy="411480"/>
          </a:xfrm>
          <a:prstGeom prst="ellipse">
            <a:avLst/>
          </a:prstGeom>
          <a:solidFill>
            <a:srgbClr val="A43D72"/>
          </a:solidFill>
          <a:ln w="12700">
            <a:solidFill>
              <a:srgbClr val="A43D72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88920" y="3008376"/>
            <a:ext cx="411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⑩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3337560" y="2962656"/>
            <a:ext cx="3246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6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경영성과리뷰 양식 작성</a:t>
            </a:r>
            <a:endParaRPr lang="en-US" sz="1160" dirty="0"/>
          </a:p>
        </p:txBody>
      </p:sp>
      <p:sp>
        <p:nvSpPr>
          <p:cNvPr id="63" name="Text 61"/>
          <p:cNvSpPr/>
          <p:nvPr/>
        </p:nvSpPr>
        <p:spPr>
          <a:xfrm>
            <a:off x="3337560" y="3456432"/>
            <a:ext cx="32461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2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Claude 활용 양식 초안 생성 → 검토 및 확정</a:t>
            </a:r>
            <a:endParaRPr lang="en-US" sz="920" dirty="0"/>
          </a:p>
        </p:txBody>
      </p:sp>
      <p:sp>
        <p:nvSpPr>
          <p:cNvPr id="64" name="Shape 62"/>
          <p:cNvSpPr/>
          <p:nvPr/>
        </p:nvSpPr>
        <p:spPr>
          <a:xfrm>
            <a:off x="6035040" y="3895344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8B8C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35040" y="3895344"/>
            <a:ext cx="65836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80" b="1" dirty="0">
                <a:solidFill>
                  <a:srgbClr val="8E2F6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 MD</a:t>
            </a:r>
            <a:endParaRPr lang="en-US" sz="880" dirty="0"/>
          </a:p>
        </p:txBody>
      </p:sp>
      <p:sp>
        <p:nvSpPr>
          <p:cNvPr id="66" name="Shape 64"/>
          <p:cNvSpPr/>
          <p:nvPr/>
        </p:nvSpPr>
        <p:spPr>
          <a:xfrm>
            <a:off x="7269480" y="2779776"/>
            <a:ext cx="4434840" cy="1572768"/>
          </a:xfrm>
          <a:prstGeom prst="roundRect">
            <a:avLst>
              <a:gd name="adj" fmla="val 2326"/>
            </a:avLst>
          </a:prstGeom>
          <a:solidFill>
            <a:srgbClr val="E7F3F1"/>
          </a:solidFill>
          <a:ln w="6350">
            <a:solidFill>
              <a:srgbClr val="A8D9D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498080" y="3008376"/>
            <a:ext cx="411480" cy="411480"/>
          </a:xfrm>
          <a:prstGeom prst="ellipse">
            <a:avLst/>
          </a:prstGeom>
          <a:solidFill>
            <a:srgbClr val="168F83"/>
          </a:solidFill>
          <a:ln w="12700">
            <a:solidFill>
              <a:srgbClr val="168F83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98080" y="3008376"/>
            <a:ext cx="411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⑪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8046720" y="2962656"/>
            <a:ext cx="3246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60" b="1" dirty="0">
                <a:solidFill>
                  <a:srgbClr val="1E1D1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데이터 및 KA 기타지표 정상 적재 확인</a:t>
            </a:r>
            <a:endParaRPr lang="en-US" sz="1160" dirty="0"/>
          </a:p>
        </p:txBody>
      </p:sp>
      <p:sp>
        <p:nvSpPr>
          <p:cNvPr id="70" name="Text 68"/>
          <p:cNvSpPr/>
          <p:nvPr/>
        </p:nvSpPr>
        <p:spPr>
          <a:xfrm>
            <a:off x="8046720" y="3456432"/>
            <a:ext cx="32461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20" dirty="0">
                <a:solidFill>
                  <a:srgbClr val="5D5A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고객 데이터 적재 완료 여부 및 KA 기타지표 정합성 확인</a:t>
            </a:r>
            <a:endParaRPr lang="en-US" sz="920" dirty="0"/>
          </a:p>
        </p:txBody>
      </p:sp>
      <p:sp>
        <p:nvSpPr>
          <p:cNvPr id="71" name="Shape 69"/>
          <p:cNvSpPr/>
          <p:nvPr/>
        </p:nvSpPr>
        <p:spPr>
          <a:xfrm>
            <a:off x="10744200" y="3895344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A8D9D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744200" y="3895344"/>
            <a:ext cx="65836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80" b="1" dirty="0">
                <a:solidFill>
                  <a:srgbClr val="168F8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 MD</a:t>
            </a:r>
            <a:endParaRPr lang="en-US" sz="880" dirty="0"/>
          </a:p>
        </p:txBody>
      </p:sp>
      <p:sp>
        <p:nvSpPr>
          <p:cNvPr id="73" name="Shape 71"/>
          <p:cNvSpPr/>
          <p:nvPr/>
        </p:nvSpPr>
        <p:spPr>
          <a:xfrm>
            <a:off x="2560320" y="4937760"/>
            <a:ext cx="9189720" cy="457200"/>
          </a:xfrm>
          <a:prstGeom prst="rect">
            <a:avLst/>
          </a:prstGeom>
          <a:solidFill>
            <a:srgbClr val="3F3F3F"/>
          </a:solidFill>
          <a:ln w="12700">
            <a:solidFill>
              <a:srgbClr val="3F3F3F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24912" y="4937760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병렬 수행 기준 총 소요시간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0607040" y="4937760"/>
            <a:ext cx="914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220" b="1" dirty="0">
                <a:solidFill>
                  <a:srgbClr val="E8B8C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MD</a:t>
            </a:r>
            <a:endParaRPr lang="en-US" sz="1220" dirty="0"/>
          </a:p>
        </p:txBody>
      </p:sp>
      <p:sp>
        <p:nvSpPr>
          <p:cNvPr id="76" name="Text 74"/>
          <p:cNvSpPr/>
          <p:nvPr/>
        </p:nvSpPr>
        <p:spPr>
          <a:xfrm>
            <a:off x="2560320" y="6519672"/>
            <a:ext cx="91897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10" dirty="0">
                <a:solidFill>
                  <a:srgbClr val="8A86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데이터 생성 후 업무 합계: 7.6 MD  ·  ⑩⑪은 ⑨ 이후 동시 수행되며, 원본 기준 합산 소요시간에 포함</a:t>
            </a:r>
            <a:endParaRPr lang="en-US" sz="7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LG U+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성과관리 인수인계 일정 안내</dc:title>
  <dc:subject>성과관리 인수인계 일정 안내</dc:subject>
  <dc:creator>Codex</dc:creator>
  <cp:lastModifiedBy>Codex</cp:lastModifiedBy>
  <cp:revision>1</cp:revision>
  <dcterms:created xsi:type="dcterms:W3CDTF">2026-06-02T01:37:56Z</dcterms:created>
  <dcterms:modified xsi:type="dcterms:W3CDTF">2026-06-02T01:37:56Z</dcterms:modified>
</cp:coreProperties>
</file>